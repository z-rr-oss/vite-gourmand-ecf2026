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38609b8ffec4ce2" /><Relationship Type="http://schemas.openxmlformats.org/officeDocument/2006/relationships/extended-properties" Target="/docProps/app.xml" Id="R31cb1c6ddcb045aa" /><Relationship Type="http://schemas.openxmlformats.org/officeDocument/2006/relationships/officeDocument" Target="/ppt/presentation.xml" Id="R7f21317af84e452b" /></Relationships>
</file>

<file path=ppt/presentation.xml><?xml version="1.0" encoding="utf-8"?>
<p:presentation xmlns:p="http://schemas.openxmlformats.org/presentationml/2006/main">
  <p:sldMasterIdLst>
    <p:sldMasterId xmlns:r="http://schemas.openxmlformats.org/officeDocument/2006/relationships" id="2147483648" r:id="Rf892e22334e24bea"/>
  </p:sldMasterIdLst>
  <p:notesMasterIdLst>
    <p:notesMasterId xmlns:r="http://schemas.openxmlformats.org/officeDocument/2006/relationships" r:id="R9c6dd3ef48e74b53"/>
  </p:notesMasterIdLst>
  <p:sldIdLst>
    <p:sldId xmlns:r="http://schemas.openxmlformats.org/officeDocument/2006/relationships" id="256" r:id="Rf3497659571e477b"/>
    <p:sldId xmlns:r="http://schemas.openxmlformats.org/officeDocument/2006/relationships" id="257" r:id="R9cb78848ab734bf6"/>
    <p:sldId xmlns:r="http://schemas.openxmlformats.org/officeDocument/2006/relationships" id="258" r:id="R71d72f0ba05a420e"/>
    <p:sldId xmlns:r="http://schemas.openxmlformats.org/officeDocument/2006/relationships" id="259" r:id="R6dd94bf41b9041f7"/>
    <p:sldId xmlns:r="http://schemas.openxmlformats.org/officeDocument/2006/relationships" id="260" r:id="R40e6fbc3120f47d2"/>
    <p:sldId xmlns:r="http://schemas.openxmlformats.org/officeDocument/2006/relationships" id="261" r:id="Rafbf81d64e8a44ab"/>
    <p:sldId xmlns:r="http://schemas.openxmlformats.org/officeDocument/2006/relationships" id="262" r:id="Rf3520f06365a4884"/>
    <p:sldId xmlns:r="http://schemas.openxmlformats.org/officeDocument/2006/relationships" id="263" r:id="R5a8242545e76452d"/>
    <p:sldId xmlns:r="http://schemas.openxmlformats.org/officeDocument/2006/relationships" id="264" r:id="R88e91d4f7541458d"/>
    <p:sldId xmlns:r="http://schemas.openxmlformats.org/officeDocument/2006/relationships" id="265" r:id="Ra4c409ef382943c1"/>
    <p:sldId xmlns:r="http://schemas.openxmlformats.org/officeDocument/2006/relationships" id="266" r:id="Rf9543962593c43ef"/>
    <p:sldId xmlns:r="http://schemas.openxmlformats.org/officeDocument/2006/relationships" id="267" r:id="R3a829c3920984238"/>
    <p:sldId xmlns:r="http://schemas.openxmlformats.org/officeDocument/2006/relationships" id="268" r:id="R16635ac7cb884276"/>
    <p:sldId xmlns:r="http://schemas.openxmlformats.org/officeDocument/2006/relationships" id="269" r:id="R9e8d89181ea2413c"/>
    <p:sldId xmlns:r="http://schemas.openxmlformats.org/officeDocument/2006/relationships" id="270" r:id="R8b940b7998c0462f"/>
    <p:sldId xmlns:r="http://schemas.openxmlformats.org/officeDocument/2006/relationships" id="271" r:id="R23b61330cf314f40"/>
    <p:sldId xmlns:r="http://schemas.openxmlformats.org/officeDocument/2006/relationships" id="272" r:id="Rcba3a7b8ce6b4efb"/>
    <p:sldId xmlns:r="http://schemas.openxmlformats.org/officeDocument/2006/relationships" id="273" r:id="R44da300013c64d06"/>
    <p:sldId xmlns:r="http://schemas.openxmlformats.org/officeDocument/2006/relationships" id="274" r:id="R6baa6ee5d10e44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8b8549910745bf" /><Relationship Type="http://schemas.openxmlformats.org/officeDocument/2006/relationships/slideMaster" Target="/ppt/slideMasters/slideMaster1.xml" Id="Rf892e22334e24bea" /><Relationship Type="http://schemas.openxmlformats.org/officeDocument/2006/relationships/notesMaster" Target="/ppt/notesMasters/notesMaster1.xml" Id="R9c6dd3ef48e74b53" /><Relationship Type="http://schemas.openxmlformats.org/officeDocument/2006/relationships/presProps" Target="/ppt/presProps.xml" Id="R3a8d76f7fde44423" /><Relationship Type="http://schemas.openxmlformats.org/officeDocument/2006/relationships/tableStyles" Target="/ppt/tableStyles.xml" Id="R54a4d12f391b46eb" /><Relationship Type="http://schemas.openxmlformats.org/officeDocument/2006/relationships/slide" Target="/ppt/slides/slide1.xml" Id="Rf3497659571e477b" /><Relationship Type="http://schemas.openxmlformats.org/officeDocument/2006/relationships/slide" Target="/ppt/slides/slide2.xml" Id="R9cb78848ab734bf6" /><Relationship Type="http://schemas.openxmlformats.org/officeDocument/2006/relationships/slide" Target="/ppt/slides/slide3.xml" Id="R71d72f0ba05a420e" /><Relationship Type="http://schemas.openxmlformats.org/officeDocument/2006/relationships/slide" Target="/ppt/slides/slide4.xml" Id="R6dd94bf41b9041f7" /><Relationship Type="http://schemas.openxmlformats.org/officeDocument/2006/relationships/slide" Target="/ppt/slides/slide5.xml" Id="R40e6fbc3120f47d2" /><Relationship Type="http://schemas.openxmlformats.org/officeDocument/2006/relationships/slide" Target="/ppt/slides/slide6.xml" Id="Rafbf81d64e8a44ab" /><Relationship Type="http://schemas.openxmlformats.org/officeDocument/2006/relationships/slide" Target="/ppt/slides/slide7.xml" Id="Rf3520f06365a4884" /><Relationship Type="http://schemas.openxmlformats.org/officeDocument/2006/relationships/slide" Target="/ppt/slides/slide8.xml" Id="R5a8242545e76452d" /><Relationship Type="http://schemas.openxmlformats.org/officeDocument/2006/relationships/slide" Target="/ppt/slides/slide9.xml" Id="R88e91d4f7541458d" /><Relationship Type="http://schemas.openxmlformats.org/officeDocument/2006/relationships/slide" Target="/ppt/slides/slide10.xml" Id="Ra4c409ef382943c1" /><Relationship Type="http://schemas.openxmlformats.org/officeDocument/2006/relationships/slide" Target="/ppt/slides/slide11.xml" Id="Rf9543962593c43ef" /><Relationship Type="http://schemas.openxmlformats.org/officeDocument/2006/relationships/slide" Target="/ppt/slides/slide12.xml" Id="R3a829c3920984238" /><Relationship Type="http://schemas.openxmlformats.org/officeDocument/2006/relationships/slide" Target="/ppt/slides/slide13.xml" Id="R16635ac7cb884276" /><Relationship Type="http://schemas.openxmlformats.org/officeDocument/2006/relationships/slide" Target="/ppt/slides/slide14.xml" Id="R9e8d89181ea2413c" /><Relationship Type="http://schemas.openxmlformats.org/officeDocument/2006/relationships/slide" Target="/ppt/slides/slide15.xml" Id="R8b940b7998c0462f" /><Relationship Type="http://schemas.openxmlformats.org/officeDocument/2006/relationships/slide" Target="/ppt/slides/slide16.xml" Id="R23b61330cf314f40" /><Relationship Type="http://schemas.openxmlformats.org/officeDocument/2006/relationships/slide" Target="/ppt/slides/slide17.xml" Id="Rcba3a7b8ce6b4efb" /><Relationship Type="http://schemas.openxmlformats.org/officeDocument/2006/relationships/slide" Target="/ppt/slides/slide18.xml" Id="R44da300013c64d06" /><Relationship Type="http://schemas.openxmlformats.org/officeDocument/2006/relationships/slide" Target="/ppt/slides/slide19.xml" Id="R6baa6ee5d10e44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275a0dee294d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5424f5492b43d6" /><Relationship Type="http://schemas.openxmlformats.org/officeDocument/2006/relationships/notesMaster" Target="/ppt/notesMasters/notesMaster1.xml" Id="R9549e5400858465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f33f18dfad4613" /><Relationship Type="http://schemas.openxmlformats.org/officeDocument/2006/relationships/notesMaster" Target="/ppt/notesMasters/notesMaster1.xml" Id="Re4f20e77165949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755601bcfe450b" /><Relationship Type="http://schemas.openxmlformats.org/officeDocument/2006/relationships/notesMaster" Target="/ppt/notesMasters/notesMaster1.xml" Id="R4b74421b8c624f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350ebd420f4d58" /><Relationship Type="http://schemas.openxmlformats.org/officeDocument/2006/relationships/notesMaster" Target="/ppt/notesMasters/notesMaster1.xml" Id="Rafc1575c92cc4c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7ac3fe99b6b4f49" /><Relationship Type="http://schemas.openxmlformats.org/officeDocument/2006/relationships/notesMaster" Target="/ppt/notesMasters/notesMaster1.xml" Id="R1c2abf2b01d64c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fae9a162e9348e7" /><Relationship Type="http://schemas.openxmlformats.org/officeDocument/2006/relationships/notesMaster" Target="/ppt/notesMasters/notesMaster1.xml" Id="Re82869f8ae47453a" /></Relationships>
</file>

<file path=ppt/notesSlides/_rels/notesSlide7.xml.rels>&#65279;<?xml version="1.0" encoding="utf-8"?><Relationships xmlns="http://schemas.openxmlformats.org/package/2006/relationships"><Relationship Type="http://schemas.openxmlformats.org/officeDocument/2006/relationships/slide" Target="/ppt/slides/slide7.xml" Id="R15863e285fee41a4" /><Relationship Type="http://schemas.openxmlformats.org/officeDocument/2006/relationships/notesMaster" Target="/ppt/notesMasters/notesMaster1.xml" Id="R1bdfc97846824b74" /></Relationships>
</file>

<file path=ppt/notesSlides/_rels/notesSlide8.xml.rels>&#65279;<?xml version="1.0" encoding="utf-8"?><Relationships xmlns="http://schemas.openxmlformats.org/package/2006/relationships"><Relationship Type="http://schemas.openxmlformats.org/officeDocument/2006/relationships/slide" Target="/ppt/slides/slide8.xml" Id="R1fb8427da1d34c40" /><Relationship Type="http://schemas.openxmlformats.org/officeDocument/2006/relationships/notesMaster" Target="/ppt/notesMasters/notesMaster1.xml" Id="Re796d244143649d9" /></Relationships>
</file>

<file path=ppt/notesSlides/_rels/notesSlide9.xml.rels>&#65279;<?xml version="1.0" encoding="utf-8"?><Relationships xmlns="http://schemas.openxmlformats.org/package/2006/relationships"><Relationship Type="http://schemas.openxmlformats.org/officeDocument/2006/relationships/slide" Target="/ppt/slides/slide9.xml" Id="R424c7cfcaa4f4b44" /><Relationship Type="http://schemas.openxmlformats.org/officeDocument/2006/relationships/notesMaster" Target="/ppt/notesMasters/notesMaster1.xml" Id="Rbd544cc31f974f9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fb278215bcd46a4" /><Relationship Type="http://schemas.openxmlformats.org/officeDocument/2006/relationships/notesMaster" Target="/ppt/notesMasters/notesMaster1.xml" Id="Rf642db81a28845d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ff264e326994d29" /><Relationship Type="http://schemas.openxmlformats.org/officeDocument/2006/relationships/notesMaster" Target="/ppt/notesMasters/notesMaster1.xml" Id="Re5e45ce540164f7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780123215494046" /><Relationship Type="http://schemas.openxmlformats.org/officeDocument/2006/relationships/notesMaster" Target="/ppt/notesMasters/notesMaster1.xml" Id="R9521f7375cd443d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51a0c5b3a6b4fb5" /><Relationship Type="http://schemas.openxmlformats.org/officeDocument/2006/relationships/notesMaster" Target="/ppt/notesMasters/notesMaster1.xml" Id="R441d52b2ce164af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f3c082dd0f44cde" /><Relationship Type="http://schemas.openxmlformats.org/officeDocument/2006/relationships/notesMaster" Target="/ppt/notesMasters/notesMaster1.xml" Id="Rc5c36c48e96c41d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793b06763dc47ed" /><Relationship Type="http://schemas.openxmlformats.org/officeDocument/2006/relationships/notesMaster" Target="/ppt/notesMasters/notesMaster1.xml" Id="Rdfee65a49c42476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c9eba0403e240e0" /><Relationship Type="http://schemas.openxmlformats.org/officeDocument/2006/relationships/notesMaster" Target="/ppt/notesMasters/notesMaster1.xml" Id="R22bc6a7d42e8479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474fe20b91d46e5" /><Relationship Type="http://schemas.openxmlformats.org/officeDocument/2006/relationships/notesMaster" Target="/ppt/notesMasters/notesMaster1.xml" Id="Rbe25270906b24ea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6f5312c9c534e3e" /><Relationship Type="http://schemas.openxmlformats.org/officeDocument/2006/relationships/notesMaster" Target="/ppt/notesMasters/notesMaster1.xml" Id="R1071ca26da2b4c4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e31a38133004f42" /><Relationship Type="http://schemas.openxmlformats.org/officeDocument/2006/relationships/notesMaster" Target="/ppt/notesMasters/notesMaster1.xml" Id="R3a83793f3ef14ac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Bonjour. Je vous présente Vite &amp; Gourmand, une application web de traiteur réalisée dans le cadre de l’ECF. Elle permet de découvrir les menus, de préparer une commande et de suivre sa prise en charge. Je vais présenter le besoin, l’interface, les choix techniques et les vérifications réalisées. Le site présenté est une démonstration pédagogique avec des données fictives.</a:t>
            </a:r>
          </a:p>
          <a:p xmlns:a="http://schemas.openxmlformats.org/drawingml/2006/main">
            <a:r>
              <a:t>Source : sujet Studi et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Julie et José dirigent un traiteur bordelais depuis vingt-cinq ans. Le besoin du sujet est de rendre les menus plus visibles et de permettre la commande depuis le site. Le visiteur consulte sans compte. Le client s’identifie pour commander et retrouver son historique. L’employé gère les opérations et l’administrateur dispose en plus de la gestion des employés et des statistiques. Cette séparation détermine les écrans visibles, mais surtout les autorisations contrôlées par PHP.</a:t>
            </a:r>
          </a:p>
          <a:p xmlns:a="http://schemas.openxmlformats.org/drawingml/2006/main">
            <a:r>
              <a:t>Sources : Sujet Studi.pdf, Config/auth.php, Templates/layout.php.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parcours commence par le catalogue. Les filtres permettent de sélectionner un thème, un régime alimentaire, un budget ou un nombre de convives. La fiche détaille le prix du forfait, le minimum de personnes, la composition, les allergènes et les conditions. Après connexion, le client prépare sa commande puis vérifie le récapitulatif. Le serveur recalcule toujours le prix. Le suivi et l’avis restent associés au bon compte. Le paiement en ligne ne fait pas partie du périmètre livré.</a:t>
            </a:r>
          </a:p>
          <a:p xmlns:a="http://schemas.openxmlformats.org/drawingml/2006/main">
            <a:r>
              <a:t>Sources : Templates/menu-list.php, Public/menu.php, Public/commander.php, docs/parcours-jury.md. Capture : docs/captures/catalogue-nouveaux-visuels-en-ligne.png.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wireframes décrivent la structure des pages. Les mockups montrent leur présentation visuelle avec la palette bordeaux, sauge et crème. Trois écrans sont documentés en ordinateur et en mobile : accueil, détail d’un menu et contact. Les exports d’origine documentent l’interface après son développement. Les versions Figma ont été ajoutées ensuite pour disposer de calques modifiables. Je présente donc ces livrables comme une documentation de la solution finale, sans inventer une phase Figma antérieure au code.</a:t>
            </a:r>
          </a:p>
          <a:p xmlns:a="http://schemas.openxmlformats.org/drawingml/2006/main">
            <a:r>
              <a:t>Sources : Livrables-jury/Wireframes, Livrables-jury/Mockups, docs/charte-graphique.md.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CSS reprend une base pensée d’abord pour ordinateur, puis adaptée aux petits écrans. Je parle donc de responsive et non d’une démarche mobile first que le projet n’a pas suivie. Les colonnes se replient et le menu change de présentation. Les tests couvrent notamment 320, 390, 768 et 1440 pixels. Les dernières corrections renforcent les bordures des champs, signalent les champs obligatoires et déplacent le focus sur les erreurs. Les parcours au clavier ont été contrôlés. En revanche, le test VoiceOver et l’audit complet RGAA ne sont pas validés. Je n’annonce donc aucun taux de conformité.</a:t>
            </a:r>
          </a:p>
          <a:p xmlns:a="http://schemas.openxmlformats.org/drawingml/2006/main">
            <a:r>
              <a:t>Sources : docs/accessibilite.md, docs/recette-accessibilite-responsive.json, Public/assets/css.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navigateur reçoit du HTML, du CSS et du JavaScript. Les pages Public traitent les requêtes et utilisent des gabarits partagés. Les règles les plus sensibles sont regroupées dans des services, par exemple les commandes, leurs prix et les notifications. PDO dialogue avec MySQL. Un repository séparé prend en charge les appels REST vers Firebase. Le projet conserve des pages procédurales pour les CRUD simples. Il ne s’agit donc pas d’un framework MVC complet. Ce choix permet de centraliser les règles critiques sans reconstruire toute la base existante.</a:t>
            </a:r>
          </a:p>
          <a:p xmlns:a="http://schemas.openxmlformats.org/drawingml/2006/main">
            <a:r>
              <a:t>Sources : docs/documentation-technique.md, Config, Templates, Services, Repositories.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MCD décrit les objets métier et leurs associations avant de parler de tables. Une commande appartient à un utilisateur et porte sur un menu. Une commande peut recevoir au maximum un avis. Le catalogue réutilise les plats et leurs allergènes. Le modèle comprend dix entités. Les deux associations plusieurs-à-plusieurs deviennent des tables de liaison, ce qui conduit à douze tables SQL. Les clés étrangères protègent la cohérence des liens. L’unicité de l’avis par commande est aussi garantie par la base. Les trois vues complètes du MCD sont placées en annexe pour répondre aux questions.</a:t>
            </a:r>
          </a:p>
          <a:p xmlns:a="http://schemas.openxmlformats.org/drawingml/2006/main">
            <a:r>
              <a:t>Sources : Livrables-jury/MCD/mcd-vite-gourmand.pdf, docs/mcd.md, vite_gourmand.sql.sql.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Voici un exemple calculé avec la règle réellement implémentée. Le menu coûte 120 euros pour quatre personnes. Pour neuf convives, le montant des repas est de 270 euros. Le nombre de personnes atteint le minimum plus cinq : la remise de dix pour cent s’applique donc aux repas, soit 27 euros. Pour vingt kilomètres hors Bordeaux, la livraison vaut cinq euros plus cinquante-neuf centimes par kilomètre, soit 16 euros 80. Le total est de 259 euros 80. Cette valeur provient du serveur. Modifier le récapitulatif dans le navigateur ne modifie pas la règle utilisée pour enregistrer la commande.</a:t>
            </a:r>
          </a:p>
          <a:p xmlns:a="http://schemas.openxmlformats.org/drawingml/2006/main">
            <a:r>
              <a:t>Source : Services/OrderRules.php, fonction calculerPrixCommande. Exemple pédagogique calculé : 120 × 9 / 4 − 27 + 5 + 0,59 ×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cas sensible est celui de deux clients qui confirment en même temps la dernière disponibilité. Le service ouvre une transaction et verrouille la ligne du menu. Il revérifie le stock, le devis et les conditions, puis crée la commande, met à jour le stock et inscrit le premier événement dans l’historique. Si une étape échoue, la transaction revient en arrière. Le deuxième client lit alors le nouvel état et reçoit un refus si le stock est épuisé. Le test a lancé deux processus concurrents pour vérifier qu’une seule réservation réussit. Les emails partent après la validation de la transaction.</a:t>
            </a:r>
          </a:p>
          <a:p xmlns:a="http://schemas.openxmlformats.org/drawingml/2006/main">
            <a:r>
              <a:t>Sources : Services/OrderService.php, tests/orders.php, docs/plan-tests.md.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contrôles de sécurité se font côté serveur, même si un bouton est caché dans l’interface. Le rôle et le propriétaire d’une commande sont vérifiés avant l’action. Les mutations utilisent POST avec un jeton CSRF. PDO prépare les requêtes et les sorties HTML sont échappées pour éviter qu’un contenu saisi devienne du code. Les mots de passe sont hachés. Les liens de réinitialisation utilisent des jetons à usage unique et expirables. Les secrets de configuration et la clé Firebase restent hors de la racine publique et du dépôt. La recette vérifie également les accès interdits et les anciens mots de passe de démonstration.</a:t>
            </a:r>
          </a:p>
          <a:p xmlns:a="http://schemas.openxmlformats.org/drawingml/2006/main">
            <a:r>
              <a:t>Sources : Config/security.php, Config/auth.php, Config/bootstrap.php, tests/integration_http.py.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MySQL conserve les commandes et les autres données métier. Une tâche planifiée construit des agrégats par jour et par menu, puis les publie dans Firebase Realtime Database. Le tableau de bord administrateur lit cet instantané par l’API REST. Les chiffres ne proviennent donc pas d’un fichier JSON local. Le navigateur ne reçoit pas la clé du compte de service. La capture illustre les données fictives de recette : trois commandes, dix-neuf convives et 120 euros de chiffre d’affaires livré. La date de synchronisation permet de connaître la fraîcheur des chiffres. Une panne Firebase produit une erreur explicite, sans inventer de statistiques de remplacement.</a:t>
            </a:r>
          </a:p>
          <a:p xmlns:a="http://schemas.openxmlformats.org/drawingml/2006/main">
            <a:r>
              <a:t>Sources : docs/nosql.md, Services/StatisticsService.php, Repositories/StatisticsRepository.php. Capture : docs/captures/statistiques-firebase-reel.png, données de recette de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recette utilise une base MariaDB isolée et une capture SMTP locale, afin de ne pas modifier les données personnelles ni envoyer des messages à des tiers. Les 196 contrôles couvrent les règles métier, les statistiques, les parcours HTTP et les images. Une suite complémentaire réalise 473 vérifications ciblées du HTML et des erreurs de formulaire. Après le déploiement, 38 contrôles vérifient les pages HTTPS, les trois rôles, Firebase et les chemins privés. Ces nombres correspondent à des assertions, pas à un pourcentage de couverture. Ils ne remplacent pas un audit complet de sécurité ou d’accessibilité.</a:t>
            </a:r>
          </a:p>
          <a:p xmlns:a="http://schemas.openxmlformats.org/drawingml/2006/main">
            <a:r>
              <a:t>Sources : docs/plan-tests.md, docs/recette-accessibilite-en-ligne.json, tests/. Résultats de la recette du 1er octobre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L’application est publiée sur alwaysdata, avec la racine web limitée au dossier Public. Les configurations privées restent séparées. Firebase contient les agrégats et ses accès publics sont fermés. Les tâches planifiées synchronisent les statistiques toutes les quinze minutes et vérifient les retards de matériel chaque jour. Le message de recette SMTP a été reçu. Le code est conservé sur GitHub avec des branches de travail intégrées dans develop puis main. Trello présente désormais les vingt-trois cartes livrées dans Terminé. Cette mise à jour du tableau est rétrospective et ne reconstitue pas artificiellement des sprints.</a:t>
            </a:r>
          </a:p>
          <a:p xmlns:a="http://schemas.openxmlformats.org/drawingml/2006/main">
            <a:r>
              <a:t>Sources : docs/deploiement.md, docs/gestion-projet.md, docs/plan-tests.md.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 passe maintenant à la démonstration. Je commence par filtrer le catalogue et ouvrir un menu. Je montre les informations nécessaires pour décider de commander. Ensuite, avec le compte client de démonstration, je prépare une commande et j’explique son récapitulatif sans déclencher un email réel pendant l’oral. Enfin, je montre le suivi côté employé et les statistiques réservées à l’administrateur. Si le réseau est indisponible, les captures et les annexes permettent d’expliquer les mêmes parcours. Les mots de passe ne figurent pas sur les diapositives : les identifiants du site sont remis séparément.</a:t>
            </a:r>
          </a:p>
          <a:p xmlns:a="http://schemas.openxmlformats.org/drawingml/2006/main">
            <a:r>
              <a:t>Source : docs/parcours-jury.md. Site : https://vite-gourmandecf2026.alwaysdata.net/.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projet couvre le parcours de commande et la gestion attendus, avec une application déployée, un stockage SQL, des statistiques NoSQL et des preuves de recette. Les difficultés les plus intéressantes ont été la cohérence du stock, les transitions de commande et l’intégration Firebase. Plusieurs limites restent identifiées : terminer l’évaluation d’accessibilité, reprendre progressivement le CSS dans une démarche mobile first et renforcer la fiabilité des emails avec une file d’envoi durable. Pour la remise, il reste également à finaliser la copie officielle et à vérifier l’accès du jury aux liens. Je distingue ces actions de remise des fonctionnalités déjà livrées.</a:t>
            </a:r>
          </a:p>
          <a:p xmlns:a="http://schemas.openxmlformats.org/drawingml/2006/main">
            <a:r>
              <a:t>Sources : docs/rapport-final.md, docs/accessibilite.md, docs/remise-jury.md.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 vous remercie pour votre attention. Je peux maintenant détailler un choix technique, une cardinalité du modèle de données ou un contrôle de sécurité. Les trois diapositives suivantes contiennent les vues complètes du MCD. Le dossier remis regroupe également les wireframes, les mockups, la charte, le manuel, les documents techniques et les résultats de tests.</a:t>
            </a:r>
          </a:p>
          <a:p xmlns:a="http://schemas.openxmlformats.org/drawingml/2006/main">
            <a:r>
              <a:t>Ressources : https://github.com/Z-RR-oss/Vite-Gourmand-ECF2026 ; https://vite-gourmandecf2026.alwaysdata.net/ ; Livrables-jury/.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Annexe à afficher si le jury souhaite examiner cette partie du modèle. Les cardinalités se lisent du côté de l’entité. Le PDF vectoriel reste disponible pour zoomer. Source : Livrables-jury/MCD/mcd-vite-gourmand.pdf et docs/mcd.md.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Annexe à afficher si le jury souhaite examiner cette partie du modèle. Les cardinalités se lisent du côté de l’entité. Le PDF vectoriel reste disponible pour zoomer. Source : Livrables-jury/MCD/mcd-vite-gourmand.pdf et docs/mcd.md.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Annexe à afficher si le jury souhaite examiner cette partie du modèle. Les cardinalités se lisent du côté de l’entité. Le PDF vectoriel reste disponible pour zoomer. Source : Livrables-jury/MCD/mcd-vite-gourmand.pdf et docs/mcd.md.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1a3ad2cac34c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f6ac8f3a3842f3" /><Relationship Type="http://schemas.openxmlformats.org/officeDocument/2006/relationships/slideLayout" Target="/ppt/slideLayouts/slideLayout1.xml" Id="R5101c655497d4d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01c655497d4d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5d922f5ee4e481e" /><Relationship Type="http://schemas.openxmlformats.org/officeDocument/2006/relationships/image" Target="/ppt/media/image.png" Id="R9bdb516f2163411e" /><Relationship Type="http://schemas.openxmlformats.org/officeDocument/2006/relationships/image" Target="/ppt/media/image.svg" Id="Rfcf84aa80cae422e" /><Relationship Type="http://schemas.openxmlformats.org/officeDocument/2006/relationships/notesSlide" Target="/ppt/notesSlides/notesSlide1.xml" Id="R97093e453eb248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edd5a794ca54a81" /><Relationship Type="http://schemas.openxmlformats.org/officeDocument/2006/relationships/notesSlide" Target="/ppt/notesSlides/notesSlide2.xml" Id="R0be0abe433a74e7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c2b4ece84294f42" /><Relationship Type="http://schemas.openxmlformats.org/officeDocument/2006/relationships/image" Target="/ppt/media/image.jpeg" Id="Rda42e12354e84931" /><Relationship Type="http://schemas.openxmlformats.org/officeDocument/2006/relationships/notesSlide" Target="/ppt/notesSlides/notesSlide3.xml" Id="R6690abd99d9f4b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af5c7b18c614b63" /><Relationship Type="http://schemas.openxmlformats.org/officeDocument/2006/relationships/image" Target="/ppt/media/image2.png" Id="R98a5bed690cd4cb1" /><Relationship Type="http://schemas.openxmlformats.org/officeDocument/2006/relationships/image" Target="/ppt/media/image2.jpeg" Id="Rd986eac3b8dc4244" /><Relationship Type="http://schemas.openxmlformats.org/officeDocument/2006/relationships/notesSlide" Target="/ppt/notesSlides/notesSlide4.xml" Id="Rf51dd3826caf42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c3527fe1c394f77" /><Relationship Type="http://schemas.openxmlformats.org/officeDocument/2006/relationships/image" Target="/ppt/media/image3.jpeg" Id="Re273111f497c43a3" /><Relationship Type="http://schemas.openxmlformats.org/officeDocument/2006/relationships/notesSlide" Target="/ppt/notesSlides/notesSlide5.xml" Id="Rd2cb813718ec4a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d7dcb04ae7f4f4a" /><Relationship Type="http://schemas.openxmlformats.org/officeDocument/2006/relationships/notesSlide" Target="/ppt/notesSlides/notesSlide6.xml" Id="Rac7be5eacea7461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cbc9f8fa47e48a6" /><Relationship Type="http://schemas.openxmlformats.org/officeDocument/2006/relationships/notesSlide" Target="/ppt/notesSlides/notesSlide7.xml" Id="Re8798f68d5f14b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d72a19afa1c492c" /><Relationship Type="http://schemas.openxmlformats.org/officeDocument/2006/relationships/notesSlide" Target="/ppt/notesSlides/notesSlide8.xml" Id="Rf71ba90a75824c6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f4bf728d0c6493b" /><Relationship Type="http://schemas.openxmlformats.org/officeDocument/2006/relationships/notesSlide" Target="/ppt/notesSlides/notesSlide9.xml" Id="R789f7f1da88c434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7b6628deeae487e" /><Relationship Type="http://schemas.openxmlformats.org/officeDocument/2006/relationships/notesSlide" Target="/ppt/notesSlides/notesSlide10.xml" Id="R5d4325b72a604f8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e5d89e4a75f43e3" /><Relationship Type="http://schemas.openxmlformats.org/officeDocument/2006/relationships/image" Target="/ppt/media/image4.jpeg" Id="R1402af3c77b34b54" /><Relationship Type="http://schemas.openxmlformats.org/officeDocument/2006/relationships/notesSlide" Target="/ppt/notesSlides/notesSlide11.xml" Id="R3cab2a8f41ae42a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1825e894fdc4b80" /><Relationship Type="http://schemas.openxmlformats.org/officeDocument/2006/relationships/notesSlide" Target="/ppt/notesSlides/notesSlide12.xml" Id="Rceb44f8b5a4b4d3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4a2cdd69d76457b" /><Relationship Type="http://schemas.openxmlformats.org/officeDocument/2006/relationships/image" Target="/ppt/media/image5.jpeg" Id="Ra1c318a34aa642e8" /><Relationship Type="http://schemas.openxmlformats.org/officeDocument/2006/relationships/notesSlide" Target="/ppt/notesSlides/notesSlide13.xml" Id="R131e4febdacf497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e5fdd32e1654d0b" /><Relationship Type="http://schemas.openxmlformats.org/officeDocument/2006/relationships/notesSlide" Target="/ppt/notesSlides/notesSlide14.xml" Id="R970d8ccb56e5458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2a839dda53a4cc4" /><Relationship Type="http://schemas.openxmlformats.org/officeDocument/2006/relationships/notesSlide" Target="/ppt/notesSlides/notesSlide15.xml" Id="R54664c7868a54ed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400c6ccad4b4bd5" /><Relationship Type="http://schemas.openxmlformats.org/officeDocument/2006/relationships/notesSlide" Target="/ppt/notesSlides/notesSlide16.xml" Id="R062c5aa8441547d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77850d663f94b23" /><Relationship Type="http://schemas.openxmlformats.org/officeDocument/2006/relationships/image" Target="/ppt/media/image3.png" Id="Rfecc54e4ec704625" /><Relationship Type="http://schemas.openxmlformats.org/officeDocument/2006/relationships/notesSlide" Target="/ppt/notesSlides/notesSlide17.xml" Id="R9d59ad39908941a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ced46d7ea224e78" /><Relationship Type="http://schemas.openxmlformats.org/officeDocument/2006/relationships/image" Target="/ppt/media/image4.png" Id="R2e214b9fef4a465b" /><Relationship Type="http://schemas.openxmlformats.org/officeDocument/2006/relationships/notesSlide" Target="/ppt/notesSlides/notesSlide18.xml" Id="R31ff5e53a0e94a2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4cdaecb60da4fb3" /><Relationship Type="http://schemas.openxmlformats.org/officeDocument/2006/relationships/image" Target="/ppt/media/image5.png" Id="R0ee0ca3151a543a2" /><Relationship Type="http://schemas.openxmlformats.org/officeDocument/2006/relationships/notesSlide" Target="/ppt/notesSlides/notesSlide19.xml" Id="Rb3b8a4bafcdd4ceb" /></Relationships>
</file>

<file path=ppt/slides/slide1.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6" name="Vite &amp; Gourmand">
            <a:extLst xmlns:a="http://schemas.openxmlformats.org/drawingml/2006/main">
              <a:ext uri="{FF2B5EF4-FFF2-40B4-BE49-F238E27FC236}">
                <a16:creationId xmlns:a16="http://schemas.microsoft.com/office/drawing/2014/main" id="{38DA3CB0-AEFB-4D0B-9901-C951E769A8C3}"/>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672F3E"/>
                </a:solidFill>
                <a:latin typeface="Arial"/>
                <a:ea typeface="Arial"/>
                <a:cs typeface="Arial"/>
              </a:defRPr>
            </a:pPr>
            <a:r>
              <a:rPr sz="3375" b="1">
                <a:solidFill>
                  <a:srgbClr val="672F3E"/>
                </a:solidFill>
                <a:latin typeface="Arial"/>
                <a:ea typeface="Arial"/>
                <a:cs typeface="Arial"/>
              </a:rPr>
              <a:t>Vite &amp; Gourmand</a:t>
            </a:r>
          </a:p>
        </p:txBody>
      </p:sp>
      <p:sp>
        <p:nvSpPr>
          <p:cNvPr id="2" name="01">
            <a:extLst xmlns:a="http://schemas.openxmlformats.org/drawingml/2006/main">
              <a:ext uri="{FF2B5EF4-FFF2-40B4-BE49-F238E27FC236}">
                <a16:creationId xmlns:a16="http://schemas.microsoft.com/office/drawing/2014/main" id="{2CA716BA-CD64-4099-B80E-2C816F1BC229}"/>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2665B"/>
                </a:solidFill>
                <a:latin typeface="Arial"/>
                <a:ea typeface="Arial"/>
                <a:cs typeface="Arial"/>
              </a:defRPr>
            </a:pPr>
            <a:r>
              <a:rPr sz="1200" b="0">
                <a:solidFill>
                  <a:srgbClr val="62665B"/>
                </a:solidFill>
                <a:latin typeface="Arial"/>
                <a:ea typeface="Arial"/>
                <a:cs typeface="Arial"/>
              </a:rPr>
              <a:t>01</a:t>
            </a:r>
          </a:p>
        </p:txBody>
      </p:sp>
      <p:sp>
        <p:nvSpPr>
          <p:cNvPr id="3" name="Application web de traiteur&#10;Présentation du projet ECF">
            <a:extLst xmlns:a="http://schemas.openxmlformats.org/drawingml/2006/main">
              <a:ext uri="{FF2B5EF4-FFF2-40B4-BE49-F238E27FC236}">
                <a16:creationId xmlns:a16="http://schemas.microsoft.com/office/drawing/2014/main" id="{BF3DE78D-0C72-480D-89E6-C97969EC64A0}"/>
              </a:ext>
            </a:extLst>
          </p:cNvPr>
          <p:cNvSpPr>
            <a:spLocks xmlns:a="http://schemas.openxmlformats.org/drawingml/2006/main" noGrp="1"/>
          </p:cNvSpPr>
          <p:nvPr/>
        </p:nvSpPr>
        <p:spPr>
          <a:xfrm xmlns:a="http://schemas.openxmlformats.org/drawingml/2006/main">
            <a:off x="628650" y="1905000"/>
            <a:ext cx="5286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92C25"/>
                </a:solidFill>
                <a:latin typeface="Arial"/>
                <a:ea typeface="Arial"/>
                <a:cs typeface="Arial"/>
              </a:defRPr>
            </a:pPr>
            <a:r>
              <a:rPr sz="2550" b="0">
                <a:solidFill>
                  <a:srgbClr val="292C25"/>
                </a:solidFill>
                <a:latin typeface="Arial"/>
                <a:ea typeface="Arial"/>
                <a:cs typeface="Arial"/>
              </a:rPr>
              <a:t>Application web de traiteur</a:t>
            </a:r>
          </a:p>
          <a:p xmlns:a="http://schemas.openxmlformats.org/drawingml/2006/main">
            <a:pPr>
              <a:defRPr sz="2550" b="0">
                <a:solidFill>
                  <a:srgbClr val="292C25"/>
                </a:solidFill>
                <a:latin typeface="Arial"/>
                <a:ea typeface="Arial"/>
                <a:cs typeface="Arial"/>
              </a:defRPr>
            </a:pPr>
            <a:r>
              <a:rPr sz="2550" b="0">
                <a:solidFill>
                  <a:srgbClr val="292C25"/>
                </a:solidFill>
                <a:latin typeface="Arial"/>
                <a:ea typeface="Arial"/>
                <a:cs typeface="Arial"/>
              </a:rPr>
              <a:t>Présentation du projet ECF</a:t>
            </a:r>
          </a:p>
        </p:txBody>
      </p:sp>
      <p:sp>
        <p:nvSpPr>
          <p:cNvPr id="4" name="PHP, MySQL, JavaScript, Firebase">
            <a:extLst xmlns:a="http://schemas.openxmlformats.org/drawingml/2006/main">
              <a:ext uri="{FF2B5EF4-FFF2-40B4-BE49-F238E27FC236}">
                <a16:creationId xmlns:a16="http://schemas.microsoft.com/office/drawing/2014/main" id="{717C354A-6FC9-4A1C-9CBE-6B7BF8A0DA4B}"/>
              </a:ext>
            </a:extLst>
          </p:cNvPr>
          <p:cNvSpPr>
            <a:spLocks xmlns:a="http://schemas.openxmlformats.org/drawingml/2006/main" noGrp="1"/>
          </p:cNvSpPr>
          <p:nvPr/>
        </p:nvSpPr>
        <p:spPr>
          <a:xfrm xmlns:a="http://schemas.openxmlformats.org/drawingml/2006/main">
            <a:off x="628650" y="5143500"/>
            <a:ext cx="581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2665B"/>
                </a:solidFill>
                <a:latin typeface="Arial"/>
                <a:ea typeface="Arial"/>
                <a:cs typeface="Arial"/>
              </a:defRPr>
            </a:pPr>
            <a:r>
              <a:rPr sz="1875" b="0">
                <a:solidFill>
                  <a:srgbClr val="62665B"/>
                </a:solidFill>
                <a:latin typeface="Arial"/>
                <a:ea typeface="Arial"/>
                <a:cs typeface="Arial"/>
              </a:rPr>
              <a:t>PHP, MySQL, JavaScript, Firebase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bdb516f2163411e">
            <a:extLst>
              <a:ext uri="{96DAC541-7B7A-43D3-8B79-37D633B846F1}">
                <asvg:svgBlip xmlns:asvg="http://schemas.microsoft.com/office/drawing/2016/SVG/main" r:embed="Rfcf84aa80cae422e"/>
              </a:ext>
            </a:extLst>
          </a:blip>
          <a:stretch xmlns:a="http://schemas.openxmlformats.org/drawingml/2006/main"/>
        </p:blipFill>
        <p:spPr>
          <a:xfrm xmlns:a="http://schemas.openxmlformats.org/drawingml/2006/main">
            <a:off x="6286500" y="1600200"/>
            <a:ext cx="5191125" cy="4219575"/>
          </a:xfrm>
          <a:prstGeom xmlns:a="http://schemas.openxmlformats.org/drawingml/2006/main" prst="rect">
            <a:avLst/>
          </a:prstGeom>
        </p:spPr>
      </p:pic>
    </p:spTree>
    <p:extLst>
      <p:ext uri="{BB962C8B-B14F-4D97-AF65-F5344CB8AC3E}">
        <p14:creationId xmlns:p14="http://schemas.microsoft.com/office/powerpoint/2010/main" val="2006762560"/>
      </p:ext>
    </p:extLst>
  </p:cSld>
</p:sld>
</file>

<file path=ppt/slides/slide2.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5" name="Le besoin de Julie et José">
            <a:extLst xmlns:a="http://schemas.openxmlformats.org/drawingml/2006/main">
              <a:ext uri="{FF2B5EF4-FFF2-40B4-BE49-F238E27FC236}">
                <a16:creationId xmlns:a16="http://schemas.microsoft.com/office/drawing/2014/main" id="{ACDFBF4D-BA63-4F76-B427-BCAFBAA125F7}"/>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672F3E"/>
                </a:solidFill>
                <a:latin typeface="Arial"/>
                <a:ea typeface="Arial"/>
                <a:cs typeface="Arial"/>
              </a:defRPr>
            </a:pPr>
            <a:r>
              <a:rPr sz="3375" b="1">
                <a:solidFill>
                  <a:srgbClr val="672F3E"/>
                </a:solidFill>
                <a:latin typeface="Arial"/>
                <a:ea typeface="Arial"/>
                <a:cs typeface="Arial"/>
              </a:rPr>
              <a:t>Le besoin de Julie et José</a:t>
            </a:r>
          </a:p>
        </p:txBody>
      </p:sp>
      <p:sp>
        <p:nvSpPr>
          <p:cNvPr id="2" name="02">
            <a:extLst xmlns:a="http://schemas.openxmlformats.org/drawingml/2006/main">
              <a:ext uri="{FF2B5EF4-FFF2-40B4-BE49-F238E27FC236}">
                <a16:creationId xmlns:a16="http://schemas.microsoft.com/office/drawing/2014/main" id="{7C34532F-EDF1-4921-B647-29660A66C576}"/>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2665B"/>
                </a:solidFill>
                <a:latin typeface="Arial"/>
                <a:ea typeface="Arial"/>
                <a:cs typeface="Arial"/>
              </a:defRPr>
            </a:pPr>
            <a:r>
              <a:rPr sz="1200" b="0">
                <a:solidFill>
                  <a:srgbClr val="62665B"/>
                </a:solidFill>
                <a:latin typeface="Arial"/>
                <a:ea typeface="Arial"/>
                <a:cs typeface="Arial"/>
              </a:rPr>
              <a:t>02</a:t>
            </a:r>
          </a:p>
        </p:txBody>
      </p:sp>
      <p:sp>
        <p:nvSpPr>
          <p:cNvPr id="3" name="Une commande accessible au client, un suivi maîtrisé pa">
            <a:extLst xmlns:a="http://schemas.openxmlformats.org/drawingml/2006/main">
              <a:ext uri="{FF2B5EF4-FFF2-40B4-BE49-F238E27FC236}">
                <a16:creationId xmlns:a16="http://schemas.microsoft.com/office/drawing/2014/main" id="{A7191A9A-C600-491C-81E6-E420F952AFA8}"/>
              </a:ext>
            </a:extLst>
          </p:cNvPr>
          <p:cNvSpPr>
            <a:spLocks xmlns:a="http://schemas.openxmlformats.org/drawingml/2006/main" noGrp="1"/>
          </p:cNvSpPr>
          <p:nvPr/>
        </p:nvSpPr>
        <p:spPr>
          <a:xfrm xmlns:a="http://schemas.openxmlformats.org/drawingml/2006/main">
            <a:off x="609600" y="1457325"/>
            <a:ext cx="10620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92C25"/>
                </a:solidFill>
                <a:latin typeface="Arial"/>
                <a:ea typeface="Arial"/>
                <a:cs typeface="Arial"/>
              </a:defRPr>
            </a:pPr>
            <a:r>
              <a:rPr sz="2325" b="0">
                <a:solidFill>
                  <a:srgbClr val="292C25"/>
                </a:solidFill>
                <a:latin typeface="Arial"/>
                <a:ea typeface="Arial"/>
                <a:cs typeface="Arial"/>
              </a:rPr>
              <a:t>Une commande accessible au client, un suivi maîtrisé par l’équipe</a:t>
            </a:r>
          </a:p>
        </p:txBody>
      </p:sp>
      <p:graphicFrame>
        <p:nvGraphicFramePr>
          <p:cNvPr id="8" name=""/>
          <p:cNvGraphicFramePr/>
          <p:nvPr/>
        </p:nvGraphicFramePr>
        <p:xfrm>
          <a:off xmlns:a="http://schemas.openxmlformats.org/drawingml/2006/main" x="609600" y="2619375"/>
          <a:ext xmlns:a="http://schemas.openxmlformats.org/drawingml/2006/main" cx="10972800" cy="3028950"/>
        </p:xfrm>
        <a:graphic xmlns:a="http://schemas.openxmlformats.org/drawingml/2006/main">
          <a:graphicData uri="http://schemas.openxmlformats.org/drawingml/2006/table">
            <a:tbl>
              <a:tblPr/>
              <a:tblGrid>
                <a:gridCol w="3048000"/>
                <a:gridCol w="7924800"/>
              </a:tblGrid>
              <a:tr h="757238">
                <a:tc>
                  <a:txBody>
                    <a:bodyPr/>
                    <a:lstStyle/>
                    <a:p>
                      <a:r>
                        <a:rPr sz="1950" b="1">
                          <a:solidFill>
                            <a:srgbClr val="FFFDF8"/>
                          </a:solidFill>
                          <a:latin typeface="Arial"/>
                          <a:ea typeface="Arial"/>
                          <a:cs typeface="Arial"/>
                        </a:rPr>
                        <a:t>Rôle</a:t>
                      </a:r>
                    </a:p>
                  </a:txBody>
                  <a:tcPr marL="91440" marR="91440" marT="45720" marB="45720">
                    <a:solidFill>
                      <a:srgbClr val="672F3E"/>
                    </a:solidFill>
                  </a:tcPr>
                </a:tc>
                <a:tc>
                  <a:txBody>
                    <a:bodyPr/>
                    <a:lstStyle/>
                    <a:p>
                      <a:r>
                        <a:rPr sz="1950" b="1">
                          <a:solidFill>
                            <a:srgbClr val="FFFDF8"/>
                          </a:solidFill>
                          <a:latin typeface="Arial"/>
                          <a:ea typeface="Arial"/>
                          <a:cs typeface="Arial"/>
                        </a:rPr>
                        <a:t>Fonctions principales</a:t>
                      </a:r>
                    </a:p>
                  </a:txBody>
                  <a:tcPr marL="91440" marR="91440" marT="45720" marB="45720">
                    <a:solidFill>
                      <a:srgbClr val="672F3E"/>
                    </a:solidFill>
                  </a:tcPr>
                </a:tc>
              </a:tr>
              <a:tr h="757238">
                <a:tc>
                  <a:txBody>
                    <a:bodyPr/>
                    <a:lstStyle/>
                    <a:p>
                      <a:r>
                        <a:rPr sz="1950" b="0">
                          <a:solidFill>
                            <a:srgbClr val="292C25"/>
                          </a:solidFill>
                          <a:latin typeface="Arial"/>
                          <a:ea typeface="Arial"/>
                          <a:cs typeface="Arial"/>
                        </a:rPr>
                        <a:t>Visiteur et client</a:t>
                      </a:r>
                    </a:p>
                  </a:txBody>
                  <a:tcPr marL="91440" marR="91440" marT="45720" marB="45720">
                    <a:solidFill>
                      <a:srgbClr val="FFFDF8"/>
                    </a:solidFill>
                  </a:tcPr>
                </a:tc>
                <a:tc>
                  <a:txBody>
                    <a:bodyPr/>
                    <a:lstStyle/>
                    <a:p>
                      <a:r>
                        <a:rPr sz="1950" b="0">
                          <a:solidFill>
                            <a:srgbClr val="292C25"/>
                          </a:solidFill>
                          <a:latin typeface="Arial"/>
                          <a:ea typeface="Arial"/>
                          <a:cs typeface="Arial"/>
                        </a:rPr>
                        <a:t>Menus, filtres, commande, suivi et avis</a:t>
                      </a:r>
                    </a:p>
                  </a:txBody>
                  <a:tcPr marL="91440" marR="91440" marT="45720" marB="45720">
                    <a:solidFill>
                      <a:srgbClr val="FFFDF8"/>
                    </a:solidFill>
                  </a:tcPr>
                </a:tc>
              </a:tr>
              <a:tr h="757238">
                <a:tc>
                  <a:txBody>
                    <a:bodyPr/>
                    <a:lstStyle/>
                    <a:p>
                      <a:r>
                        <a:rPr sz="1950" b="0">
                          <a:solidFill>
                            <a:srgbClr val="292C25"/>
                          </a:solidFill>
                          <a:latin typeface="Arial"/>
                          <a:ea typeface="Arial"/>
                          <a:cs typeface="Arial"/>
                        </a:rPr>
                        <a:t>Employé</a:t>
                      </a:r>
                    </a:p>
                  </a:txBody>
                  <a:tcPr marL="91440" marR="91440" marT="45720" marB="45720">
                    <a:solidFill>
                      <a:srgbClr val="FFFDF8"/>
                    </a:solidFill>
                  </a:tcPr>
                </a:tc>
                <a:tc>
                  <a:txBody>
                    <a:bodyPr/>
                    <a:lstStyle/>
                    <a:p>
                      <a:r>
                        <a:rPr sz="1950" b="0">
                          <a:solidFill>
                            <a:srgbClr val="292C25"/>
                          </a:solidFill>
                          <a:latin typeface="Arial"/>
                          <a:ea typeface="Arial"/>
                          <a:cs typeface="Arial"/>
                        </a:rPr>
                        <a:t>Catalogue, commandes et modération</a:t>
                      </a:r>
                    </a:p>
                  </a:txBody>
                  <a:tcPr marL="91440" marR="91440" marT="45720" marB="45720">
                    <a:solidFill>
                      <a:srgbClr val="FFFDF8"/>
                    </a:solidFill>
                  </a:tcPr>
                </a:tc>
              </a:tr>
              <a:tr h="757238">
                <a:tc>
                  <a:txBody>
                    <a:bodyPr/>
                    <a:lstStyle/>
                    <a:p>
                      <a:r>
                        <a:rPr sz="1950" b="0">
                          <a:solidFill>
                            <a:srgbClr val="292C25"/>
                          </a:solidFill>
                          <a:latin typeface="Arial"/>
                          <a:ea typeface="Arial"/>
                          <a:cs typeface="Arial"/>
                        </a:rPr>
                        <a:t>Administrateur</a:t>
                      </a:r>
                    </a:p>
                  </a:txBody>
                  <a:tcPr marL="91440" marR="91440" marT="45720" marB="45720">
                    <a:solidFill>
                      <a:srgbClr val="FFFDF8"/>
                    </a:solidFill>
                  </a:tcPr>
                </a:tc>
                <a:tc>
                  <a:txBody>
                    <a:bodyPr/>
                    <a:lstStyle/>
                    <a:p>
                      <a:r>
                        <a:rPr sz="1950" b="0">
                          <a:solidFill>
                            <a:srgbClr val="292C25"/>
                          </a:solidFill>
                          <a:latin typeface="Arial"/>
                          <a:ea typeface="Arial"/>
                          <a:cs typeface="Arial"/>
                        </a:rPr>
                        <a:t>Gestion de l’équipe et statistiques</a:t>
                      </a:r>
                    </a:p>
                  </a:txBody>
                  <a:tcPr marL="91440" marR="91440" marT="45720" marB="45720">
                    <a:solidFill>
                      <a:srgbClr val="FFFDF8"/>
                    </a:solidFill>
                  </a:tcPr>
                </a:tc>
              </a:tr>
            </a:tbl>
          </a:graphicData>
        </a:graphic>
      </p:graphicFrame>
    </p:spTree>
    <p:extLst>
      <p:ext uri="{BB962C8B-B14F-4D97-AF65-F5344CB8AC3E}">
        <p14:creationId xmlns:p14="http://schemas.microsoft.com/office/powerpoint/2010/main" val="1227973580"/>
      </p:ext>
    </p:extLst>
  </p:cSld>
</p:sld>
</file>

<file path=ppt/slides/slide3.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5" name="Le parcours client">
            <a:extLst xmlns:a="http://schemas.openxmlformats.org/drawingml/2006/main">
              <a:ext uri="{FF2B5EF4-FFF2-40B4-BE49-F238E27FC236}">
                <a16:creationId xmlns:a16="http://schemas.microsoft.com/office/drawing/2014/main" id="{220CB9AD-166E-42E3-9549-E3415F8D23A5}"/>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672F3E"/>
                </a:solidFill>
                <a:latin typeface="Arial"/>
                <a:ea typeface="Arial"/>
                <a:cs typeface="Arial"/>
              </a:defRPr>
            </a:pPr>
            <a:r>
              <a:rPr sz="3375" b="1">
                <a:solidFill>
                  <a:srgbClr val="672F3E"/>
                </a:solidFill>
                <a:latin typeface="Arial"/>
                <a:ea typeface="Arial"/>
                <a:cs typeface="Arial"/>
              </a:rPr>
              <a:t>Le parcours client</a:t>
            </a:r>
          </a:p>
        </p:txBody>
      </p:sp>
      <p:sp>
        <p:nvSpPr>
          <p:cNvPr id="2" name="03">
            <a:extLst xmlns:a="http://schemas.openxmlformats.org/drawingml/2006/main">
              <a:ext uri="{FF2B5EF4-FFF2-40B4-BE49-F238E27FC236}">
                <a16:creationId xmlns:a16="http://schemas.microsoft.com/office/drawing/2014/main" id="{F44B513F-F388-4E30-9B63-A919990A24E4}"/>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2665B"/>
                </a:solidFill>
                <a:latin typeface="Arial"/>
                <a:ea typeface="Arial"/>
                <a:cs typeface="Arial"/>
              </a:defRPr>
            </a:pPr>
            <a:r>
              <a:rPr sz="1200" b="0">
                <a:solidFill>
                  <a:srgbClr val="62665B"/>
                </a:solidFill>
                <a:latin typeface="Arial"/>
                <a:ea typeface="Arial"/>
                <a:cs typeface="Arial"/>
              </a:rPr>
              <a:t>03</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a42e12354e84931"/>
          <a:stretch xmlns:a="http://schemas.openxmlformats.org/drawingml/2006/main"/>
        </p:blipFill>
        <p:spPr>
          <a:xfrm xmlns:a="http://schemas.openxmlformats.org/drawingml/2006/main">
            <a:off x="1154642" y="1571625"/>
            <a:ext cx="6434667" cy="4524375"/>
          </a:xfrm>
          <a:prstGeom xmlns:a="http://schemas.openxmlformats.org/drawingml/2006/main" prst="rect">
            <a:avLst/>
          </a:prstGeom>
        </p:spPr>
      </p:pic>
      <p:sp>
        <p:nvSpPr>
          <p:cNvPr id="4" name="1. Filtrer les menus&#10;&#10;2. Lire les conditions&#10;&#10;3. Vérifi">
            <a:extLst xmlns:a="http://schemas.openxmlformats.org/drawingml/2006/main">
              <a:ext uri="{FF2B5EF4-FFF2-40B4-BE49-F238E27FC236}">
                <a16:creationId xmlns:a16="http://schemas.microsoft.com/office/drawing/2014/main" id="{3A027C13-369B-47B3-8DC7-37A5B069A43D}"/>
              </a:ext>
            </a:extLst>
          </p:cNvPr>
          <p:cNvSpPr>
            <a:spLocks xmlns:a="http://schemas.openxmlformats.org/drawingml/2006/main" noGrp="1"/>
          </p:cNvSpPr>
          <p:nvPr/>
        </p:nvSpPr>
        <p:spPr>
          <a:xfrm xmlns:a="http://schemas.openxmlformats.org/drawingml/2006/main">
            <a:off x="8524875" y="1714500"/>
            <a:ext cx="304800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1. Filtrer les menus</a:t>
            </a:r>
          </a:p>
          <a:p xmlns:a="http://schemas.openxmlformats.org/drawingml/2006/main">
            <a:r>
              <a:t/>
            </a:r>
          </a:p>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2. Lire les conditions</a:t>
            </a:r>
          </a:p>
          <a:p xmlns:a="http://schemas.openxmlformats.org/drawingml/2006/main">
            <a:r>
              <a:t/>
            </a:r>
          </a:p>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3. Vérifier la commande</a:t>
            </a:r>
          </a:p>
          <a:p xmlns:a="http://schemas.openxmlformats.org/drawingml/2006/main">
            <a:r>
              <a:t/>
            </a:r>
          </a:p>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4. Suivre la prestation</a:t>
            </a:r>
          </a:p>
        </p:txBody>
      </p:sp>
    </p:spTree>
    <p:extLst>
      <p:ext uri="{BB962C8B-B14F-4D97-AF65-F5344CB8AC3E}">
        <p14:creationId xmlns:p14="http://schemas.microsoft.com/office/powerpoint/2010/main" val="1445227472"/>
      </p:ext>
    </p:extLst>
  </p:cSld>
</p:sld>
</file>

<file path=ppt/slides/slide4.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7" name="Wireframes et mockups">
            <a:extLst xmlns:a="http://schemas.openxmlformats.org/drawingml/2006/main">
              <a:ext uri="{FF2B5EF4-FFF2-40B4-BE49-F238E27FC236}">
                <a16:creationId xmlns:a16="http://schemas.microsoft.com/office/drawing/2014/main" id="{4AFECE4E-0789-40AD-9CA0-C9A89C05AD1A}"/>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672F3E"/>
                </a:solidFill>
                <a:latin typeface="Arial"/>
                <a:ea typeface="Arial"/>
                <a:cs typeface="Arial"/>
              </a:defRPr>
            </a:pPr>
            <a:r>
              <a:rPr sz="3375" b="1">
                <a:solidFill>
                  <a:srgbClr val="672F3E"/>
                </a:solidFill>
                <a:latin typeface="Arial"/>
                <a:ea typeface="Arial"/>
                <a:cs typeface="Arial"/>
              </a:rPr>
              <a:t>Wireframes et mockups</a:t>
            </a:r>
          </a:p>
        </p:txBody>
      </p:sp>
      <p:sp>
        <p:nvSpPr>
          <p:cNvPr id="2" name="04">
            <a:extLst xmlns:a="http://schemas.openxmlformats.org/drawingml/2006/main">
              <a:ext uri="{FF2B5EF4-FFF2-40B4-BE49-F238E27FC236}">
                <a16:creationId xmlns:a16="http://schemas.microsoft.com/office/drawing/2014/main" id="{D2F86C26-0C9B-4401-A11D-475AA3EE2439}"/>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2665B"/>
                </a:solidFill>
                <a:latin typeface="Arial"/>
                <a:ea typeface="Arial"/>
                <a:cs typeface="Arial"/>
              </a:defRPr>
            </a:pPr>
            <a:r>
              <a:rPr sz="1200" b="0">
                <a:solidFill>
                  <a:srgbClr val="62665B"/>
                </a:solidFill>
                <a:latin typeface="Arial"/>
                <a:ea typeface="Arial"/>
                <a:cs typeface="Arial"/>
              </a:rPr>
              <a:t>04</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8a5bed690cd4cb1"/>
          <a:stretch xmlns:a="http://schemas.openxmlformats.org/drawingml/2006/main"/>
        </p:blipFill>
        <p:spPr>
          <a:xfrm xmlns:a="http://schemas.openxmlformats.org/drawingml/2006/main">
            <a:off x="857250" y="1828800"/>
            <a:ext cx="6172200" cy="4286250"/>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986eac3b8dc4244"/>
          <a:stretch xmlns:a="http://schemas.openxmlformats.org/drawingml/2006/main"/>
        </p:blipFill>
        <p:spPr>
          <a:xfrm xmlns:a="http://schemas.openxmlformats.org/drawingml/2006/main">
            <a:off x="7961388" y="1857375"/>
            <a:ext cx="1936600" cy="4191000"/>
          </a:xfrm>
          <a:prstGeom xmlns:a="http://schemas.openxmlformats.org/drawingml/2006/main" prst="rect">
            <a:avLst/>
          </a:prstGeom>
        </p:spPr>
      </p:pic>
      <p:sp>
        <p:nvSpPr>
          <p:cNvPr id="5" name="Structure">
            <a:extLst xmlns:a="http://schemas.openxmlformats.org/drawingml/2006/main">
              <a:ext uri="{FF2B5EF4-FFF2-40B4-BE49-F238E27FC236}">
                <a16:creationId xmlns:a16="http://schemas.microsoft.com/office/drawing/2014/main" id="{A7EF672B-EAB4-4A7E-9294-CEFD4093CB85}"/>
              </a:ext>
            </a:extLst>
          </p:cNvPr>
          <p:cNvSpPr>
            <a:spLocks xmlns:a="http://schemas.openxmlformats.org/drawingml/2006/main" noGrp="1"/>
          </p:cNvSpPr>
          <p:nvPr/>
        </p:nvSpPr>
        <p:spPr>
          <a:xfrm xmlns:a="http://schemas.openxmlformats.org/drawingml/2006/main">
            <a:off x="666750" y="1333500"/>
            <a:ext cx="571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672F3E"/>
                </a:solidFill>
                <a:latin typeface="Arial"/>
                <a:ea typeface="Arial"/>
                <a:cs typeface="Arial"/>
              </a:defRPr>
            </a:pPr>
            <a:r>
              <a:rPr sz="2025" b="1">
                <a:solidFill>
                  <a:srgbClr val="672F3E"/>
                </a:solidFill>
                <a:latin typeface="Arial"/>
                <a:ea typeface="Arial"/>
                <a:cs typeface="Arial"/>
              </a:rPr>
              <a:t>Structure</a:t>
            </a:r>
          </a:p>
        </p:txBody>
      </p:sp>
      <p:sp>
        <p:nvSpPr>
          <p:cNvPr id="6" name="Interface mobile">
            <a:extLst xmlns:a="http://schemas.openxmlformats.org/drawingml/2006/main">
              <a:ext uri="{FF2B5EF4-FFF2-40B4-BE49-F238E27FC236}">
                <a16:creationId xmlns:a16="http://schemas.microsoft.com/office/drawing/2014/main" id="{CAF90016-CE58-4519-9195-7F687E8C9F2C}"/>
              </a:ext>
            </a:extLst>
          </p:cNvPr>
          <p:cNvSpPr>
            <a:spLocks xmlns:a="http://schemas.openxmlformats.org/drawingml/2006/main" noGrp="1"/>
          </p:cNvSpPr>
          <p:nvPr/>
        </p:nvSpPr>
        <p:spPr>
          <a:xfrm xmlns:a="http://schemas.openxmlformats.org/drawingml/2006/main">
            <a:off x="7810500" y="1333500"/>
            <a:ext cx="3476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672F3E"/>
                </a:solidFill>
                <a:latin typeface="Arial"/>
                <a:ea typeface="Arial"/>
                <a:cs typeface="Arial"/>
              </a:defRPr>
            </a:pPr>
            <a:r>
              <a:rPr sz="2025" b="1">
                <a:solidFill>
                  <a:srgbClr val="672F3E"/>
                </a:solidFill>
                <a:latin typeface="Arial"/>
                <a:ea typeface="Arial"/>
                <a:cs typeface="Arial"/>
              </a:rPr>
              <a:t>Interface mobile</a:t>
            </a:r>
          </a:p>
        </p:txBody>
      </p:sp>
    </p:spTree>
    <p:extLst>
      <p:ext uri="{BB962C8B-B14F-4D97-AF65-F5344CB8AC3E}">
        <p14:creationId xmlns:p14="http://schemas.microsoft.com/office/powerpoint/2010/main" val="146362415"/>
      </p:ext>
    </p:extLst>
  </p:cSld>
</p:sld>
</file>

<file path=ppt/slides/slide5.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8" name="Responsive et accessibilité">
            <a:extLst xmlns:a="http://schemas.openxmlformats.org/drawingml/2006/main">
              <a:ext uri="{FF2B5EF4-FFF2-40B4-BE49-F238E27FC236}">
                <a16:creationId xmlns:a16="http://schemas.microsoft.com/office/drawing/2014/main" id="{B3E2C22B-67E8-4AF9-A33C-2A443C0A89E8}"/>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672F3E"/>
                </a:solidFill>
                <a:latin typeface="Arial"/>
                <a:ea typeface="Arial"/>
                <a:cs typeface="Arial"/>
              </a:defRPr>
            </a:pPr>
            <a:r>
              <a:rPr sz="3375" b="1">
                <a:solidFill>
                  <a:srgbClr val="672F3E"/>
                </a:solidFill>
                <a:latin typeface="Arial"/>
                <a:ea typeface="Arial"/>
                <a:cs typeface="Arial"/>
              </a:rPr>
              <a:t>Responsive et accessibilité</a:t>
            </a:r>
          </a:p>
        </p:txBody>
      </p:sp>
      <p:sp>
        <p:nvSpPr>
          <p:cNvPr id="2" name="05">
            <a:extLst xmlns:a="http://schemas.openxmlformats.org/drawingml/2006/main">
              <a:ext uri="{FF2B5EF4-FFF2-40B4-BE49-F238E27FC236}">
                <a16:creationId xmlns:a16="http://schemas.microsoft.com/office/drawing/2014/main" id="{34ACBAC4-A4F8-43CF-9839-F4999F2C76F8}"/>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2665B"/>
                </a:solidFill>
                <a:latin typeface="Arial"/>
                <a:ea typeface="Arial"/>
                <a:cs typeface="Arial"/>
              </a:defRPr>
            </a:pPr>
            <a:r>
              <a:rPr sz="1200" b="0">
                <a:solidFill>
                  <a:srgbClr val="62665B"/>
                </a:solidFill>
                <a:latin typeface="Arial"/>
                <a:ea typeface="Arial"/>
                <a:cs typeface="Arial"/>
              </a:rPr>
              <a:t>05</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273111f497c43a3"/>
          <a:stretch xmlns:a="http://schemas.openxmlformats.org/drawingml/2006/main"/>
        </p:blipFill>
        <p:spPr>
          <a:xfrm xmlns:a="http://schemas.openxmlformats.org/drawingml/2006/main">
            <a:off x="717591" y="1571625"/>
            <a:ext cx="1993817" cy="4314825"/>
          </a:xfrm>
          <a:prstGeom xmlns:a="http://schemas.openxmlformats.org/drawingml/2006/main" prst="rect">
            <a:avLst/>
          </a:prstGeom>
        </p:spPr>
      </p:pic>
      <p:sp>
        <p:nvSpPr>
          <p:cNvPr id="4" name="Une base desktop adaptée au mobile">
            <a:extLst xmlns:a="http://schemas.openxmlformats.org/drawingml/2006/main">
              <a:ext uri="{FF2B5EF4-FFF2-40B4-BE49-F238E27FC236}">
                <a16:creationId xmlns:a16="http://schemas.microsoft.com/office/drawing/2014/main" id="{8FFB02AB-B146-4551-86E1-E79C5E27F75D}"/>
              </a:ext>
            </a:extLst>
          </p:cNvPr>
          <p:cNvSpPr>
            <a:spLocks xmlns:a="http://schemas.openxmlformats.org/drawingml/2006/main" noGrp="1"/>
          </p:cNvSpPr>
          <p:nvPr/>
        </p:nvSpPr>
        <p:spPr>
          <a:xfrm xmlns:a="http://schemas.openxmlformats.org/drawingml/2006/main">
            <a:off x="3476625" y="1571625"/>
            <a:ext cx="771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672F3E"/>
                </a:solidFill>
                <a:latin typeface="Arial"/>
                <a:ea typeface="Arial"/>
                <a:cs typeface="Arial"/>
              </a:defRPr>
            </a:pPr>
            <a:r>
              <a:rPr sz="2250" b="1">
                <a:solidFill>
                  <a:srgbClr val="672F3E"/>
                </a:solidFill>
                <a:latin typeface="Arial"/>
                <a:ea typeface="Arial"/>
                <a:cs typeface="Arial"/>
              </a:rPr>
              <a:t>Une base desktop adaptée au mobile</a:t>
            </a:r>
          </a:p>
        </p:txBody>
      </p:sp>
      <p:sp>
        <p:nvSpPr>
          <p:cNvPr id="5" name="Colonnes repliables et navigation mobile.&#10;Contrôles à p">
            <a:extLst xmlns:a="http://schemas.openxmlformats.org/drawingml/2006/main">
              <a:ext uri="{FF2B5EF4-FFF2-40B4-BE49-F238E27FC236}">
                <a16:creationId xmlns:a16="http://schemas.microsoft.com/office/drawing/2014/main" id="{26E33432-C323-4753-9DE1-76A8C04D58E7}"/>
              </a:ext>
            </a:extLst>
          </p:cNvPr>
          <p:cNvSpPr>
            <a:spLocks xmlns:a="http://schemas.openxmlformats.org/drawingml/2006/main" noGrp="1"/>
          </p:cNvSpPr>
          <p:nvPr/>
        </p:nvSpPr>
        <p:spPr>
          <a:xfrm xmlns:a="http://schemas.openxmlformats.org/drawingml/2006/main">
            <a:off x="3476625" y="2105025"/>
            <a:ext cx="7715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Colonnes repliables et navigation mobile.</a:t>
            </a:r>
          </a:p>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Contrôles à partir de 320 px.</a:t>
            </a:r>
          </a:p>
        </p:txBody>
      </p:sp>
      <p:sp>
        <p:nvSpPr>
          <p:cNvPr id="6" name="Des corrections ciblées">
            <a:extLst xmlns:a="http://schemas.openxmlformats.org/drawingml/2006/main">
              <a:ext uri="{FF2B5EF4-FFF2-40B4-BE49-F238E27FC236}">
                <a16:creationId xmlns:a16="http://schemas.microsoft.com/office/drawing/2014/main" id="{D788AEEC-8ADD-42AE-9CB3-22979E4C71AC}"/>
              </a:ext>
            </a:extLst>
          </p:cNvPr>
          <p:cNvSpPr>
            <a:spLocks xmlns:a="http://schemas.openxmlformats.org/drawingml/2006/main" noGrp="1"/>
          </p:cNvSpPr>
          <p:nvPr/>
        </p:nvSpPr>
        <p:spPr>
          <a:xfrm xmlns:a="http://schemas.openxmlformats.org/drawingml/2006/main">
            <a:off x="3476625" y="3886200"/>
            <a:ext cx="771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672F3E"/>
                </a:solidFill>
                <a:latin typeface="Arial"/>
                <a:ea typeface="Arial"/>
                <a:cs typeface="Arial"/>
              </a:defRPr>
            </a:pPr>
            <a:r>
              <a:rPr sz="2250" b="1">
                <a:solidFill>
                  <a:srgbClr val="672F3E"/>
                </a:solidFill>
                <a:latin typeface="Arial"/>
                <a:ea typeface="Arial"/>
                <a:cs typeface="Arial"/>
              </a:rPr>
              <a:t>Des corrections ciblées</a:t>
            </a:r>
          </a:p>
        </p:txBody>
      </p:sp>
      <p:sp>
        <p:nvSpPr>
          <p:cNvPr id="7" name="Labels, contraste, focus et clavier.&#10;Évaluation RGAA ex">
            <a:extLst xmlns:a="http://schemas.openxmlformats.org/drawingml/2006/main">
              <a:ext uri="{FF2B5EF4-FFF2-40B4-BE49-F238E27FC236}">
                <a16:creationId xmlns:a16="http://schemas.microsoft.com/office/drawing/2014/main" id="{95DBBD86-9C24-4792-82FF-7E799FCEA208}"/>
              </a:ext>
            </a:extLst>
          </p:cNvPr>
          <p:cNvSpPr>
            <a:spLocks xmlns:a="http://schemas.openxmlformats.org/drawingml/2006/main" noGrp="1"/>
          </p:cNvSpPr>
          <p:nvPr/>
        </p:nvSpPr>
        <p:spPr>
          <a:xfrm xmlns:a="http://schemas.openxmlformats.org/drawingml/2006/main">
            <a:off x="3476625" y="4419600"/>
            <a:ext cx="7715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Labels, contraste, focus et clavier.</a:t>
            </a:r>
          </a:p>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Évaluation RGAA exhaustive encore à compléter.</a:t>
            </a:r>
          </a:p>
        </p:txBody>
      </p:sp>
    </p:spTree>
    <p:extLst>
      <p:ext uri="{BB962C8B-B14F-4D97-AF65-F5344CB8AC3E}">
        <p14:creationId xmlns:p14="http://schemas.microsoft.com/office/powerpoint/2010/main" val="39294649"/>
      </p:ext>
    </p:extLst>
  </p:cSld>
</p:sld>
</file>

<file path=ppt/slides/slide6.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1" name="Une architecture PHP progressive">
            <a:extLst xmlns:a="http://schemas.openxmlformats.org/drawingml/2006/main">
              <a:ext uri="{FF2B5EF4-FFF2-40B4-BE49-F238E27FC236}">
                <a16:creationId xmlns:a16="http://schemas.microsoft.com/office/drawing/2014/main" id="{31884DBF-FE21-492E-BAD7-9FD116CE86C4}"/>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672F3E"/>
                </a:solidFill>
                <a:latin typeface="Arial"/>
                <a:ea typeface="Arial"/>
                <a:cs typeface="Arial"/>
              </a:defRPr>
            </a:pPr>
            <a:r>
              <a:rPr sz="3375" b="1">
                <a:solidFill>
                  <a:srgbClr val="672F3E"/>
                </a:solidFill>
                <a:latin typeface="Arial"/>
                <a:ea typeface="Arial"/>
                <a:cs typeface="Arial"/>
              </a:rPr>
              <a:t>Une architecture PHP progressive</a:t>
            </a:r>
          </a:p>
        </p:txBody>
      </p:sp>
      <p:sp>
        <p:nvSpPr>
          <p:cNvPr id="2" name="06">
            <a:extLst xmlns:a="http://schemas.openxmlformats.org/drawingml/2006/main">
              <a:ext uri="{FF2B5EF4-FFF2-40B4-BE49-F238E27FC236}">
                <a16:creationId xmlns:a16="http://schemas.microsoft.com/office/drawing/2014/main" id="{0B23D779-656C-4DA6-86E1-DB7D9A89DE78}"/>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2665B"/>
                </a:solidFill>
                <a:latin typeface="Arial"/>
                <a:ea typeface="Arial"/>
                <a:cs typeface="Arial"/>
              </a:defRPr>
            </a:pPr>
            <a:r>
              <a:rPr sz="1200" b="0">
                <a:solidFill>
                  <a:srgbClr val="62665B"/>
                </a:solidFill>
                <a:latin typeface="Arial"/>
                <a:ea typeface="Arial"/>
                <a:cs typeface="Arial"/>
              </a:rPr>
              <a:t>06</a:t>
            </a:r>
          </a:p>
        </p:txBody>
      </p:sp>
      <p:sp>
        <p:nvSpPr>
          <p:cNvPr id="3" name="Navigateur">
            <a:extLst xmlns:a="http://schemas.openxmlformats.org/drawingml/2006/main">
              <a:ext uri="{FF2B5EF4-FFF2-40B4-BE49-F238E27FC236}">
                <a16:creationId xmlns:a16="http://schemas.microsoft.com/office/drawing/2014/main" id="{6E66ED98-E502-47F7-BC35-23879D14A9F3}"/>
              </a:ext>
            </a:extLst>
          </p:cNvPr>
          <p:cNvSpPr>
            <a:spLocks xmlns:a="http://schemas.openxmlformats.org/drawingml/2006/main" noGrp="1"/>
          </p:cNvSpPr>
          <p:nvPr/>
        </p:nvSpPr>
        <p:spPr>
          <a:xfrm xmlns:a="http://schemas.openxmlformats.org/drawingml/2006/main">
            <a:off x="609600" y="166687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672F3E"/>
                </a:solidFill>
                <a:latin typeface="Arial"/>
                <a:ea typeface="Arial"/>
                <a:cs typeface="Arial"/>
              </a:defRPr>
            </a:pPr>
            <a:r>
              <a:rPr sz="2250" b="1">
                <a:solidFill>
                  <a:srgbClr val="672F3E"/>
                </a:solidFill>
                <a:latin typeface="Arial"/>
                <a:ea typeface="Arial"/>
                <a:cs typeface="Arial"/>
              </a:rPr>
              <a:t>Navigateur</a:t>
            </a:r>
          </a:p>
        </p:txBody>
      </p:sp>
      <p:sp>
        <p:nvSpPr>
          <p:cNvPr id="4" name="HTML et CSS&#10;JavaScript pour les filtres">
            <a:extLst xmlns:a="http://schemas.openxmlformats.org/drawingml/2006/main">
              <a:ext uri="{FF2B5EF4-FFF2-40B4-BE49-F238E27FC236}">
                <a16:creationId xmlns:a16="http://schemas.microsoft.com/office/drawing/2014/main" id="{6A9B3BA0-4B89-4967-BE5E-FFBD19F26F11}"/>
              </a:ext>
            </a:extLst>
          </p:cNvPr>
          <p:cNvSpPr>
            <a:spLocks xmlns:a="http://schemas.openxmlformats.org/drawingml/2006/main" noGrp="1"/>
          </p:cNvSpPr>
          <p:nvPr/>
        </p:nvSpPr>
        <p:spPr>
          <a:xfrm xmlns:a="http://schemas.openxmlformats.org/drawingml/2006/main">
            <a:off x="609600" y="2200275"/>
            <a:ext cx="4857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HTML et CSS</a:t>
            </a:r>
          </a:p>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JavaScript pour les filtres</a:t>
            </a:r>
          </a:p>
        </p:txBody>
      </p:sp>
      <p:sp>
        <p:nvSpPr>
          <p:cNvPr id="5" name="Application PHP">
            <a:extLst xmlns:a="http://schemas.openxmlformats.org/drawingml/2006/main">
              <a:ext uri="{FF2B5EF4-FFF2-40B4-BE49-F238E27FC236}">
                <a16:creationId xmlns:a16="http://schemas.microsoft.com/office/drawing/2014/main" id="{59B3D8F8-97D5-4E41-A481-4D5F603B01A6}"/>
              </a:ext>
            </a:extLst>
          </p:cNvPr>
          <p:cNvSpPr>
            <a:spLocks xmlns:a="http://schemas.openxmlformats.org/drawingml/2006/main" noGrp="1"/>
          </p:cNvSpPr>
          <p:nvPr/>
        </p:nvSpPr>
        <p:spPr>
          <a:xfrm xmlns:a="http://schemas.openxmlformats.org/drawingml/2006/main">
            <a:off x="6524625" y="166687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672F3E"/>
                </a:solidFill>
                <a:latin typeface="Arial"/>
                <a:ea typeface="Arial"/>
                <a:cs typeface="Arial"/>
              </a:defRPr>
            </a:pPr>
            <a:r>
              <a:rPr sz="2250" b="1">
                <a:solidFill>
                  <a:srgbClr val="672F3E"/>
                </a:solidFill>
                <a:latin typeface="Arial"/>
                <a:ea typeface="Arial"/>
                <a:cs typeface="Arial"/>
              </a:rPr>
              <a:t>Application PHP</a:t>
            </a:r>
          </a:p>
        </p:txBody>
      </p:sp>
      <p:sp>
        <p:nvSpPr>
          <p:cNvPr id="6" name="Public et Templates&#10;Contrôles de session et formulaires">
            <a:extLst xmlns:a="http://schemas.openxmlformats.org/drawingml/2006/main">
              <a:ext uri="{FF2B5EF4-FFF2-40B4-BE49-F238E27FC236}">
                <a16:creationId xmlns:a16="http://schemas.microsoft.com/office/drawing/2014/main" id="{7D8F08A7-4798-4548-94E2-C4625A2D46C6}"/>
              </a:ext>
            </a:extLst>
          </p:cNvPr>
          <p:cNvSpPr>
            <a:spLocks xmlns:a="http://schemas.openxmlformats.org/drawingml/2006/main" noGrp="1"/>
          </p:cNvSpPr>
          <p:nvPr/>
        </p:nvSpPr>
        <p:spPr>
          <a:xfrm xmlns:a="http://schemas.openxmlformats.org/drawingml/2006/main">
            <a:off x="6524625" y="2200275"/>
            <a:ext cx="4857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Public et Templates</a:t>
            </a:r>
          </a:p>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Contrôles de session et formulaires</a:t>
            </a:r>
          </a:p>
        </p:txBody>
      </p:sp>
      <p:sp>
        <p:nvSpPr>
          <p:cNvPr id="7" name="Règles métier">
            <a:extLst xmlns:a="http://schemas.openxmlformats.org/drawingml/2006/main">
              <a:ext uri="{FF2B5EF4-FFF2-40B4-BE49-F238E27FC236}">
                <a16:creationId xmlns:a16="http://schemas.microsoft.com/office/drawing/2014/main" id="{2BF7FBF1-BF67-4707-A6D8-EE5231986B10}"/>
              </a:ext>
            </a:extLst>
          </p:cNvPr>
          <p:cNvSpPr>
            <a:spLocks xmlns:a="http://schemas.openxmlformats.org/drawingml/2006/main" noGrp="1"/>
          </p:cNvSpPr>
          <p:nvPr/>
        </p:nvSpPr>
        <p:spPr>
          <a:xfrm xmlns:a="http://schemas.openxmlformats.org/drawingml/2006/main">
            <a:off x="609600" y="400050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672F3E"/>
                </a:solidFill>
                <a:latin typeface="Arial"/>
                <a:ea typeface="Arial"/>
                <a:cs typeface="Arial"/>
              </a:defRPr>
            </a:pPr>
            <a:r>
              <a:rPr sz="2250" b="1">
                <a:solidFill>
                  <a:srgbClr val="672F3E"/>
                </a:solidFill>
                <a:latin typeface="Arial"/>
                <a:ea typeface="Arial"/>
                <a:cs typeface="Arial"/>
              </a:rPr>
              <a:t>Règles métier</a:t>
            </a:r>
          </a:p>
        </p:txBody>
      </p:sp>
      <p:sp>
        <p:nvSpPr>
          <p:cNvPr id="8" name="Services de commande&#10;Prix, stock et transitions">
            <a:extLst xmlns:a="http://schemas.openxmlformats.org/drawingml/2006/main">
              <a:ext uri="{FF2B5EF4-FFF2-40B4-BE49-F238E27FC236}">
                <a16:creationId xmlns:a16="http://schemas.microsoft.com/office/drawing/2014/main" id="{E207AE2E-201F-4023-B0FC-BCED4881FF6A}"/>
              </a:ext>
            </a:extLst>
          </p:cNvPr>
          <p:cNvSpPr>
            <a:spLocks xmlns:a="http://schemas.openxmlformats.org/drawingml/2006/main" noGrp="1"/>
          </p:cNvSpPr>
          <p:nvPr/>
        </p:nvSpPr>
        <p:spPr>
          <a:xfrm xmlns:a="http://schemas.openxmlformats.org/drawingml/2006/main">
            <a:off x="609600" y="4533900"/>
            <a:ext cx="4857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Services de commande</a:t>
            </a:r>
          </a:p>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Prix, stock et transitions</a:t>
            </a:r>
          </a:p>
        </p:txBody>
      </p:sp>
      <p:sp>
        <p:nvSpPr>
          <p:cNvPr id="9" name="Persistance">
            <a:extLst xmlns:a="http://schemas.openxmlformats.org/drawingml/2006/main">
              <a:ext uri="{FF2B5EF4-FFF2-40B4-BE49-F238E27FC236}">
                <a16:creationId xmlns:a16="http://schemas.microsoft.com/office/drawing/2014/main" id="{A563A84B-F612-4A7A-A13E-CEA81C31B688}"/>
              </a:ext>
            </a:extLst>
          </p:cNvPr>
          <p:cNvSpPr>
            <a:spLocks xmlns:a="http://schemas.openxmlformats.org/drawingml/2006/main" noGrp="1"/>
          </p:cNvSpPr>
          <p:nvPr/>
        </p:nvSpPr>
        <p:spPr>
          <a:xfrm xmlns:a="http://schemas.openxmlformats.org/drawingml/2006/main">
            <a:off x="6524625" y="400050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672F3E"/>
                </a:solidFill>
                <a:latin typeface="Arial"/>
                <a:ea typeface="Arial"/>
                <a:cs typeface="Arial"/>
              </a:defRPr>
            </a:pPr>
            <a:r>
              <a:rPr sz="2250" b="1">
                <a:solidFill>
                  <a:srgbClr val="672F3E"/>
                </a:solidFill>
                <a:latin typeface="Arial"/>
                <a:ea typeface="Arial"/>
                <a:cs typeface="Arial"/>
              </a:rPr>
              <a:t>Persistance</a:t>
            </a:r>
          </a:p>
        </p:txBody>
      </p:sp>
      <p:sp>
        <p:nvSpPr>
          <p:cNvPr id="10" name="PDO et MySQL pour le métier&#10;REST et Firebase pour les a">
            <a:extLst xmlns:a="http://schemas.openxmlformats.org/drawingml/2006/main">
              <a:ext uri="{FF2B5EF4-FFF2-40B4-BE49-F238E27FC236}">
                <a16:creationId xmlns:a16="http://schemas.microsoft.com/office/drawing/2014/main" id="{415FD3F4-60B5-41C5-944E-612E39D6EABB}"/>
              </a:ext>
            </a:extLst>
          </p:cNvPr>
          <p:cNvSpPr>
            <a:spLocks xmlns:a="http://schemas.openxmlformats.org/drawingml/2006/main" noGrp="1"/>
          </p:cNvSpPr>
          <p:nvPr/>
        </p:nvSpPr>
        <p:spPr>
          <a:xfrm xmlns:a="http://schemas.openxmlformats.org/drawingml/2006/main">
            <a:off x="6524625" y="4533900"/>
            <a:ext cx="4857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PDO et MySQL pour le métier</a:t>
            </a:r>
          </a:p>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REST et Firebase pour les agrégats</a:t>
            </a:r>
          </a:p>
        </p:txBody>
      </p:sp>
    </p:spTree>
    <p:extLst>
      <p:ext uri="{BB962C8B-B14F-4D97-AF65-F5344CB8AC3E}">
        <p14:creationId xmlns:p14="http://schemas.microsoft.com/office/powerpoint/2010/main" val="1705606365"/>
      </p:ext>
    </p:extLst>
  </p:cSld>
</p:sld>
</file>

<file path=ppt/slides/slide7.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6" name="Le modèle de données">
            <a:extLst xmlns:a="http://schemas.openxmlformats.org/drawingml/2006/main">
              <a:ext uri="{FF2B5EF4-FFF2-40B4-BE49-F238E27FC236}">
                <a16:creationId xmlns:a16="http://schemas.microsoft.com/office/drawing/2014/main" id="{48A304B2-8159-4936-B6EC-350944BEBE9C}"/>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672F3E"/>
                </a:solidFill>
                <a:latin typeface="Arial"/>
                <a:ea typeface="Arial"/>
                <a:cs typeface="Arial"/>
              </a:defRPr>
            </a:pPr>
            <a:r>
              <a:rPr sz="3375" b="1">
                <a:solidFill>
                  <a:srgbClr val="672F3E"/>
                </a:solidFill>
                <a:latin typeface="Arial"/>
                <a:ea typeface="Arial"/>
                <a:cs typeface="Arial"/>
              </a:rPr>
              <a:t>Le modèle de données</a:t>
            </a:r>
          </a:p>
        </p:txBody>
      </p:sp>
      <p:sp>
        <p:nvSpPr>
          <p:cNvPr id="2" name="07">
            <a:extLst xmlns:a="http://schemas.openxmlformats.org/drawingml/2006/main">
              <a:ext uri="{FF2B5EF4-FFF2-40B4-BE49-F238E27FC236}">
                <a16:creationId xmlns:a16="http://schemas.microsoft.com/office/drawing/2014/main" id="{1A4A08FA-8130-463E-B5D4-3F2DD788521B}"/>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2665B"/>
                </a:solidFill>
                <a:latin typeface="Arial"/>
                <a:ea typeface="Arial"/>
                <a:cs typeface="Arial"/>
              </a:defRPr>
            </a:pPr>
            <a:r>
              <a:rPr sz="1200" b="0">
                <a:solidFill>
                  <a:srgbClr val="62665B"/>
                </a:solidFill>
                <a:latin typeface="Arial"/>
                <a:ea typeface="Arial"/>
                <a:cs typeface="Arial"/>
              </a:rPr>
              <a:t>07</a:t>
            </a:r>
          </a:p>
        </p:txBody>
      </p:sp>
      <p:sp>
        <p:nvSpPr>
          <p:cNvPr id="3" name="10 entités conceptuelles">
            <a:extLst xmlns:a="http://schemas.openxmlformats.org/drawingml/2006/main">
              <a:ext uri="{FF2B5EF4-FFF2-40B4-BE49-F238E27FC236}">
                <a16:creationId xmlns:a16="http://schemas.microsoft.com/office/drawing/2014/main" id="{7BE5576D-A342-4379-8BB3-097FC053971B}"/>
              </a:ext>
            </a:extLst>
          </p:cNvPr>
          <p:cNvSpPr>
            <a:spLocks xmlns:a="http://schemas.openxmlformats.org/drawingml/2006/main" noGrp="1"/>
          </p:cNvSpPr>
          <p:nvPr/>
        </p:nvSpPr>
        <p:spPr>
          <a:xfrm xmlns:a="http://schemas.openxmlformats.org/drawingml/2006/main">
            <a:off x="609600" y="1647825"/>
            <a:ext cx="685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672F3E"/>
                </a:solidFill>
                <a:latin typeface="Arial"/>
                <a:ea typeface="Arial"/>
                <a:cs typeface="Arial"/>
              </a:defRPr>
            </a:pPr>
            <a:r>
              <a:rPr sz="3225" b="1">
                <a:solidFill>
                  <a:srgbClr val="672F3E"/>
                </a:solidFill>
                <a:latin typeface="Arial"/>
                <a:ea typeface="Arial"/>
                <a:cs typeface="Arial"/>
              </a:rPr>
              <a:t>10 entités conceptuelles</a:t>
            </a:r>
          </a:p>
        </p:txBody>
      </p:sp>
      <p:sp>
        <p:nvSpPr>
          <p:cNvPr id="4" name="12 tables relationnelles">
            <a:extLst xmlns:a="http://schemas.openxmlformats.org/drawingml/2006/main">
              <a:ext uri="{FF2B5EF4-FFF2-40B4-BE49-F238E27FC236}">
                <a16:creationId xmlns:a16="http://schemas.microsoft.com/office/drawing/2014/main" id="{9C87B0B7-B8EC-4C0F-8C40-D060FE21D8D5}"/>
              </a:ext>
            </a:extLst>
          </p:cNvPr>
          <p:cNvSpPr>
            <a:spLocks xmlns:a="http://schemas.openxmlformats.org/drawingml/2006/main" noGrp="1"/>
          </p:cNvSpPr>
          <p:nvPr/>
        </p:nvSpPr>
        <p:spPr>
          <a:xfrm xmlns:a="http://schemas.openxmlformats.org/drawingml/2006/main">
            <a:off x="609600" y="2409825"/>
            <a:ext cx="685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526B57"/>
                </a:solidFill>
                <a:latin typeface="Arial"/>
                <a:ea typeface="Arial"/>
                <a:cs typeface="Arial"/>
              </a:defRPr>
            </a:pPr>
            <a:r>
              <a:rPr sz="3225" b="1">
                <a:solidFill>
                  <a:srgbClr val="526B57"/>
                </a:solidFill>
                <a:latin typeface="Arial"/>
                <a:ea typeface="Arial"/>
                <a:cs typeface="Arial"/>
              </a:rPr>
              <a:t>12 tables relationnelles</a:t>
            </a:r>
          </a:p>
        </p:txBody>
      </p:sp>
      <p:graphicFrame>
        <p:nvGraphicFramePr>
          <p:cNvPr id="10" name=""/>
          <p:cNvGraphicFramePr/>
          <p:nvPr/>
        </p:nvGraphicFramePr>
        <p:xfrm>
          <a:off xmlns:a="http://schemas.openxmlformats.org/drawingml/2006/main" x="609600" y="3476625"/>
          <a:ext xmlns:a="http://schemas.openxmlformats.org/drawingml/2006/main" cx="10972800" cy="2324100"/>
        </p:xfrm>
        <a:graphic xmlns:a="http://schemas.openxmlformats.org/drawingml/2006/main">
          <a:graphicData uri="http://schemas.openxmlformats.org/drawingml/2006/table">
            <a:tbl>
              <a:tblPr/>
              <a:tblGrid>
                <a:gridCol w="3429000"/>
                <a:gridCol w="7543800"/>
              </a:tblGrid>
              <a:tr h="581025">
                <a:tc>
                  <a:txBody>
                    <a:bodyPr/>
                    <a:lstStyle/>
                    <a:p>
                      <a:r>
                        <a:rPr sz="1950" b="1">
                          <a:solidFill>
                            <a:srgbClr val="FFFDF8"/>
                          </a:solidFill>
                          <a:latin typeface="Arial"/>
                          <a:ea typeface="Arial"/>
                          <a:cs typeface="Arial"/>
                        </a:rPr>
                        <a:t>Association</a:t>
                      </a:r>
                    </a:p>
                  </a:txBody>
                  <a:tcPr marL="91440" marR="91440" marT="45720" marB="45720">
                    <a:solidFill>
                      <a:srgbClr val="672F3E"/>
                    </a:solidFill>
                  </a:tcPr>
                </a:tc>
                <a:tc>
                  <a:txBody>
                    <a:bodyPr/>
                    <a:lstStyle/>
                    <a:p>
                      <a:r>
                        <a:rPr sz="1950" b="1">
                          <a:solidFill>
                            <a:srgbClr val="FFFDF8"/>
                          </a:solidFill>
                          <a:latin typeface="Arial"/>
                          <a:ea typeface="Arial"/>
                          <a:cs typeface="Arial"/>
                        </a:rPr>
                        <a:t>Règle métier</a:t>
                      </a:r>
                    </a:p>
                  </a:txBody>
                  <a:tcPr marL="91440" marR="91440" marT="45720" marB="45720">
                    <a:solidFill>
                      <a:srgbClr val="672F3E"/>
                    </a:solidFill>
                  </a:tcPr>
                </a:tc>
              </a:tr>
              <a:tr h="581025">
                <a:tc>
                  <a:txBody>
                    <a:bodyPr/>
                    <a:lstStyle/>
                    <a:p>
                      <a:r>
                        <a:rPr sz="1950" b="0">
                          <a:solidFill>
                            <a:srgbClr val="292C25"/>
                          </a:solidFill>
                          <a:latin typeface="Arial"/>
                          <a:ea typeface="Arial"/>
                          <a:cs typeface="Arial"/>
                        </a:rPr>
                        <a:t>Client / commande</a:t>
                      </a:r>
                    </a:p>
                  </a:txBody>
                  <a:tcPr marL="91440" marR="91440" marT="45720" marB="45720">
                    <a:solidFill>
                      <a:srgbClr val="FFFDF8"/>
                    </a:solidFill>
                  </a:tcPr>
                </a:tc>
                <a:tc>
                  <a:txBody>
                    <a:bodyPr/>
                    <a:lstStyle/>
                    <a:p>
                      <a:r>
                        <a:rPr sz="1950" b="0">
                          <a:solidFill>
                            <a:srgbClr val="292C25"/>
                          </a:solidFill>
                          <a:latin typeface="Arial"/>
                          <a:ea typeface="Arial"/>
                          <a:cs typeface="Arial"/>
                        </a:rPr>
                        <a:t>Une commande appartient à un client</a:t>
                      </a:r>
                    </a:p>
                  </a:txBody>
                  <a:tcPr marL="91440" marR="91440" marT="45720" marB="45720">
                    <a:solidFill>
                      <a:srgbClr val="FFFDF8"/>
                    </a:solidFill>
                  </a:tcPr>
                </a:tc>
              </a:tr>
              <a:tr h="581025">
                <a:tc>
                  <a:txBody>
                    <a:bodyPr/>
                    <a:lstStyle/>
                    <a:p>
                      <a:r>
                        <a:rPr sz="1950" b="0">
                          <a:solidFill>
                            <a:srgbClr val="292C25"/>
                          </a:solidFill>
                          <a:latin typeface="Arial"/>
                          <a:ea typeface="Arial"/>
                          <a:cs typeface="Arial"/>
                        </a:rPr>
                        <a:t>Commande / menu</a:t>
                      </a:r>
                    </a:p>
                  </a:txBody>
                  <a:tcPr marL="91440" marR="91440" marT="45720" marB="45720">
                    <a:solidFill>
                      <a:srgbClr val="FFFDF8"/>
                    </a:solidFill>
                  </a:tcPr>
                </a:tc>
                <a:tc>
                  <a:txBody>
                    <a:bodyPr/>
                    <a:lstStyle/>
                    <a:p>
                      <a:r>
                        <a:rPr sz="1950" b="0">
                          <a:solidFill>
                            <a:srgbClr val="292C25"/>
                          </a:solidFill>
                          <a:latin typeface="Arial"/>
                          <a:ea typeface="Arial"/>
                          <a:cs typeface="Arial"/>
                        </a:rPr>
                        <a:t>Une commande porte sur un seul menu</a:t>
                      </a:r>
                    </a:p>
                  </a:txBody>
                  <a:tcPr marL="91440" marR="91440" marT="45720" marB="45720">
                    <a:solidFill>
                      <a:srgbClr val="FFFDF8"/>
                    </a:solidFill>
                  </a:tcPr>
                </a:tc>
              </a:tr>
              <a:tr h="581025">
                <a:tc>
                  <a:txBody>
                    <a:bodyPr/>
                    <a:lstStyle/>
                    <a:p>
                      <a:r>
                        <a:rPr sz="1950" b="0">
                          <a:solidFill>
                            <a:srgbClr val="292C25"/>
                          </a:solidFill>
                          <a:latin typeface="Arial"/>
                          <a:ea typeface="Arial"/>
                          <a:cs typeface="Arial"/>
                        </a:rPr>
                        <a:t>Commande / avis</a:t>
                      </a:r>
                    </a:p>
                  </a:txBody>
                  <a:tcPr marL="91440" marR="91440" marT="45720" marB="45720">
                    <a:solidFill>
                      <a:srgbClr val="FFFDF8"/>
                    </a:solidFill>
                  </a:tcPr>
                </a:tc>
                <a:tc>
                  <a:txBody>
                    <a:bodyPr/>
                    <a:lstStyle/>
                    <a:p>
                      <a:r>
                        <a:rPr sz="1950" b="0">
                          <a:solidFill>
                            <a:srgbClr val="292C25"/>
                          </a:solidFill>
                          <a:latin typeface="Arial"/>
                          <a:ea typeface="Arial"/>
                          <a:cs typeface="Arial"/>
                        </a:rPr>
                        <a:t>Un avis maximum par commande</a:t>
                      </a:r>
                    </a:p>
                  </a:txBody>
                  <a:tcPr marL="91440" marR="91440" marT="45720" marB="45720">
                    <a:solidFill>
                      <a:srgbClr val="FFFDF8"/>
                    </a:solidFill>
                  </a:tcPr>
                </a:tc>
              </a:tr>
            </a:tbl>
          </a:graphicData>
        </a:graphic>
      </p:graphicFrame>
    </p:spTree>
    <p:extLst>
      <p:ext uri="{BB962C8B-B14F-4D97-AF65-F5344CB8AC3E}">
        <p14:creationId xmlns:p14="http://schemas.microsoft.com/office/powerpoint/2010/main" val="1398967144"/>
      </p:ext>
    </p:extLst>
  </p:cSld>
</p:sld>
</file>

<file path=ppt/slides/slide8.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5" name="Un prix recalculé côté serveur">
            <a:extLst xmlns:a="http://schemas.openxmlformats.org/drawingml/2006/main">
              <a:ext uri="{FF2B5EF4-FFF2-40B4-BE49-F238E27FC236}">
                <a16:creationId xmlns:a16="http://schemas.microsoft.com/office/drawing/2014/main" id="{5B257C36-4100-4337-9AD3-10DBB898E95A}"/>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672F3E"/>
                </a:solidFill>
                <a:latin typeface="Arial"/>
                <a:ea typeface="Arial"/>
                <a:cs typeface="Arial"/>
              </a:defRPr>
            </a:pPr>
            <a:r>
              <a:rPr sz="3375" b="1">
                <a:solidFill>
                  <a:srgbClr val="672F3E"/>
                </a:solidFill>
                <a:latin typeface="Arial"/>
                <a:ea typeface="Arial"/>
                <a:cs typeface="Arial"/>
              </a:rPr>
              <a:t>Un prix recalculé côté serveur</a:t>
            </a:r>
          </a:p>
        </p:txBody>
      </p:sp>
      <p:sp>
        <p:nvSpPr>
          <p:cNvPr id="2" name="08">
            <a:extLst xmlns:a="http://schemas.openxmlformats.org/drawingml/2006/main">
              <a:ext uri="{FF2B5EF4-FFF2-40B4-BE49-F238E27FC236}">
                <a16:creationId xmlns:a16="http://schemas.microsoft.com/office/drawing/2014/main" id="{ED24826B-C936-4A06-B4DD-34F8540AA3A5}"/>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2665B"/>
                </a:solidFill>
                <a:latin typeface="Arial"/>
                <a:ea typeface="Arial"/>
                <a:cs typeface="Arial"/>
              </a:defRPr>
            </a:pPr>
            <a:r>
              <a:rPr sz="1200" b="0">
                <a:solidFill>
                  <a:srgbClr val="62665B"/>
                </a:solidFill>
                <a:latin typeface="Arial"/>
                <a:ea typeface="Arial"/>
                <a:cs typeface="Arial"/>
              </a:rPr>
              <a:t>08</a:t>
            </a:r>
          </a:p>
        </p:txBody>
      </p:sp>
      <p:sp>
        <p:nvSpPr>
          <p:cNvPr id="3" name="Exemple : forfait 120 € / 4 personnes, 9 convives, 20 k">
            <a:extLst xmlns:a="http://schemas.openxmlformats.org/drawingml/2006/main">
              <a:ext uri="{FF2B5EF4-FFF2-40B4-BE49-F238E27FC236}">
                <a16:creationId xmlns:a16="http://schemas.microsoft.com/office/drawing/2014/main" id="{412C1F76-60D8-416B-8807-744956B9678D}"/>
              </a:ext>
            </a:extLst>
          </p:cNvPr>
          <p:cNvSpPr>
            <a:spLocks xmlns:a="http://schemas.openxmlformats.org/drawingml/2006/main" noGrp="1"/>
          </p:cNvSpPr>
          <p:nvPr/>
        </p:nvSpPr>
        <p:spPr>
          <a:xfrm xmlns:a="http://schemas.openxmlformats.org/drawingml/2006/main">
            <a:off x="609600" y="14573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92C25"/>
                </a:solidFill>
                <a:latin typeface="Arial"/>
                <a:ea typeface="Arial"/>
                <a:cs typeface="Arial"/>
              </a:defRPr>
            </a:pPr>
            <a:r>
              <a:rPr sz="2175" b="0">
                <a:solidFill>
                  <a:srgbClr val="292C25"/>
                </a:solidFill>
                <a:latin typeface="Arial"/>
                <a:ea typeface="Arial"/>
                <a:cs typeface="Arial"/>
              </a:rPr>
              <a:t>Exemple : forfait 120 € / 4 personnes, 9 convives, 20 km</a:t>
            </a:r>
          </a:p>
        </p:txBody>
      </p:sp>
      <p:graphicFrame>
        <p:nvGraphicFramePr>
          <p:cNvPr id="8" name=""/>
          <p:cNvGraphicFramePr/>
          <p:nvPr/>
        </p:nvGraphicFramePr>
        <p:xfrm>
          <a:off xmlns:a="http://schemas.openxmlformats.org/drawingml/2006/main" x="609600" y="2409825"/>
          <a:ext xmlns:a="http://schemas.openxmlformats.org/drawingml/2006/main" cx="10972800" cy="3429000"/>
        </p:xfrm>
        <a:graphic xmlns:a="http://schemas.openxmlformats.org/drawingml/2006/main">
          <a:graphicData uri="http://schemas.openxmlformats.org/drawingml/2006/table">
            <a:tbl>
              <a:tblPr/>
              <a:tblGrid>
                <a:gridCol w="8572500"/>
                <a:gridCol w="2400300"/>
              </a:tblGrid>
              <a:tr h="685800">
                <a:tc>
                  <a:txBody>
                    <a:bodyPr/>
                    <a:lstStyle/>
                    <a:p>
                      <a:r>
                        <a:rPr sz="1950" b="1">
                          <a:solidFill>
                            <a:srgbClr val="FFFDF8"/>
                          </a:solidFill>
                          <a:latin typeface="Arial"/>
                          <a:ea typeface="Arial"/>
                          <a:cs typeface="Arial"/>
                        </a:rPr>
                        <a:t>Calcul</a:t>
                      </a:r>
                    </a:p>
                  </a:txBody>
                  <a:tcPr marL="91440" marR="91440" marT="45720" marB="45720">
                    <a:solidFill>
                      <a:srgbClr val="672F3E"/>
                    </a:solidFill>
                  </a:tcPr>
                </a:tc>
                <a:tc>
                  <a:txBody>
                    <a:bodyPr/>
                    <a:lstStyle/>
                    <a:p>
                      <a:r>
                        <a:rPr sz="1950" b="1">
                          <a:solidFill>
                            <a:srgbClr val="FFFDF8"/>
                          </a:solidFill>
                          <a:latin typeface="Arial"/>
                          <a:ea typeface="Arial"/>
                          <a:cs typeface="Arial"/>
                        </a:rPr>
                        <a:t>Montant</a:t>
                      </a:r>
                    </a:p>
                  </a:txBody>
                  <a:tcPr marL="91440" marR="91440" marT="45720" marB="45720">
                    <a:solidFill>
                      <a:srgbClr val="672F3E"/>
                    </a:solidFill>
                  </a:tcPr>
                </a:tc>
              </a:tr>
              <a:tr h="685800">
                <a:tc>
                  <a:txBody>
                    <a:bodyPr/>
                    <a:lstStyle/>
                    <a:p>
                      <a:r>
                        <a:rPr sz="1950" b="0">
                          <a:solidFill>
                            <a:srgbClr val="292C25"/>
                          </a:solidFill>
                          <a:latin typeface="Arial"/>
                          <a:ea typeface="Arial"/>
                          <a:cs typeface="Arial"/>
                        </a:rPr>
                        <a:t>Repas : 120 × 9 ÷ 4</a:t>
                      </a:r>
                    </a:p>
                  </a:txBody>
                  <a:tcPr marL="91440" marR="91440" marT="45720" marB="45720">
                    <a:solidFill>
                      <a:srgbClr val="FFFDF8"/>
                    </a:solidFill>
                  </a:tcPr>
                </a:tc>
                <a:tc>
                  <a:txBody>
                    <a:bodyPr/>
                    <a:lstStyle/>
                    <a:p>
                      <a:r>
                        <a:rPr sz="1950" b="0">
                          <a:solidFill>
                            <a:srgbClr val="292C25"/>
                          </a:solidFill>
                          <a:latin typeface="Arial"/>
                          <a:ea typeface="Arial"/>
                          <a:cs typeface="Arial"/>
                        </a:rPr>
                        <a:t>270,00 €</a:t>
                      </a:r>
                    </a:p>
                  </a:txBody>
                  <a:tcPr marL="91440" marR="91440" marT="45720" marB="45720">
                    <a:solidFill>
                      <a:srgbClr val="FFFDF8"/>
                    </a:solidFill>
                  </a:tcPr>
                </a:tc>
              </a:tr>
              <a:tr h="685800">
                <a:tc>
                  <a:txBody>
                    <a:bodyPr/>
                    <a:lstStyle/>
                    <a:p>
                      <a:r>
                        <a:rPr sz="1950" b="0">
                          <a:solidFill>
                            <a:srgbClr val="292C25"/>
                          </a:solidFill>
                          <a:latin typeface="Arial"/>
                          <a:ea typeface="Arial"/>
                          <a:cs typeface="Arial"/>
                        </a:rPr>
                        <a:t>Remise de 10 % sur les repas</a:t>
                      </a:r>
                    </a:p>
                  </a:txBody>
                  <a:tcPr marL="91440" marR="91440" marT="45720" marB="45720">
                    <a:solidFill>
                      <a:srgbClr val="FFFDF8"/>
                    </a:solidFill>
                  </a:tcPr>
                </a:tc>
                <a:tc>
                  <a:txBody>
                    <a:bodyPr/>
                    <a:lstStyle/>
                    <a:p>
                      <a:r>
                        <a:rPr sz="1950" b="0">
                          <a:solidFill>
                            <a:srgbClr val="292C25"/>
                          </a:solidFill>
                          <a:latin typeface="Arial"/>
                          <a:ea typeface="Arial"/>
                          <a:cs typeface="Arial"/>
                        </a:rPr>
                        <a:t>−27,00 €</a:t>
                      </a:r>
                    </a:p>
                  </a:txBody>
                  <a:tcPr marL="91440" marR="91440" marT="45720" marB="45720">
                    <a:solidFill>
                      <a:srgbClr val="FFFDF8"/>
                    </a:solidFill>
                  </a:tcPr>
                </a:tc>
              </a:tr>
              <a:tr h="685800">
                <a:tc>
                  <a:txBody>
                    <a:bodyPr/>
                    <a:lstStyle/>
                    <a:p>
                      <a:r>
                        <a:rPr sz="1950" b="0">
                          <a:solidFill>
                            <a:srgbClr val="292C25"/>
                          </a:solidFill>
                          <a:latin typeface="Arial"/>
                          <a:ea typeface="Arial"/>
                          <a:cs typeface="Arial"/>
                        </a:rPr>
                        <a:t>Livraison : 5 + 0,59 × 20</a:t>
                      </a:r>
                    </a:p>
                  </a:txBody>
                  <a:tcPr marL="91440" marR="91440" marT="45720" marB="45720">
                    <a:solidFill>
                      <a:srgbClr val="FFFDF8"/>
                    </a:solidFill>
                  </a:tcPr>
                </a:tc>
                <a:tc>
                  <a:txBody>
                    <a:bodyPr/>
                    <a:lstStyle/>
                    <a:p>
                      <a:r>
                        <a:rPr sz="1950" b="0">
                          <a:solidFill>
                            <a:srgbClr val="292C25"/>
                          </a:solidFill>
                          <a:latin typeface="Arial"/>
                          <a:ea typeface="Arial"/>
                          <a:cs typeface="Arial"/>
                        </a:rPr>
                        <a:t>16,80 €</a:t>
                      </a:r>
                    </a:p>
                  </a:txBody>
                  <a:tcPr marL="91440" marR="91440" marT="45720" marB="45720">
                    <a:solidFill>
                      <a:srgbClr val="FFFDF8"/>
                    </a:solidFill>
                  </a:tcPr>
                </a:tc>
              </a:tr>
              <a:tr h="685800">
                <a:tc>
                  <a:txBody>
                    <a:bodyPr/>
                    <a:lstStyle/>
                    <a:p>
                      <a:r>
                        <a:rPr sz="1950" b="0">
                          <a:solidFill>
                            <a:srgbClr val="292C25"/>
                          </a:solidFill>
                          <a:latin typeface="Arial"/>
                          <a:ea typeface="Arial"/>
                          <a:cs typeface="Arial"/>
                        </a:rPr>
                        <a:t>Total</a:t>
                      </a:r>
                    </a:p>
                  </a:txBody>
                  <a:tcPr marL="91440" marR="91440" marT="45720" marB="45720">
                    <a:solidFill>
                      <a:srgbClr val="FFFDF8"/>
                    </a:solidFill>
                  </a:tcPr>
                </a:tc>
                <a:tc>
                  <a:txBody>
                    <a:bodyPr/>
                    <a:lstStyle/>
                    <a:p>
                      <a:r>
                        <a:rPr sz="1950" b="0">
                          <a:solidFill>
                            <a:srgbClr val="292C25"/>
                          </a:solidFill>
                          <a:latin typeface="Arial"/>
                          <a:ea typeface="Arial"/>
                          <a:cs typeface="Arial"/>
                        </a:rPr>
                        <a:t>259,80 €</a:t>
                      </a:r>
                    </a:p>
                  </a:txBody>
                  <a:tcPr marL="91440" marR="91440" marT="45720" marB="45720">
                    <a:solidFill>
                      <a:srgbClr val="FFFDF8"/>
                    </a:solidFill>
                  </a:tcPr>
                </a:tc>
              </a:tr>
            </a:tbl>
          </a:graphicData>
        </a:graphic>
      </p:graphicFrame>
    </p:spTree>
    <p:extLst>
      <p:ext uri="{BB962C8B-B14F-4D97-AF65-F5344CB8AC3E}">
        <p14:creationId xmlns:p14="http://schemas.microsoft.com/office/powerpoint/2010/main" val="1543430617"/>
      </p:ext>
    </p:extLst>
  </p:cSld>
</p:sld>
</file>

<file path=ppt/slides/slide9.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6" name="La réservation du dernier stock">
            <a:extLst xmlns:a="http://schemas.openxmlformats.org/drawingml/2006/main">
              <a:ext uri="{FF2B5EF4-FFF2-40B4-BE49-F238E27FC236}">
                <a16:creationId xmlns:a16="http://schemas.microsoft.com/office/drawing/2014/main" id="{D3EBC48B-D9C7-4F90-8FEE-741226FCB379}"/>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672F3E"/>
                </a:solidFill>
                <a:latin typeface="Arial"/>
                <a:ea typeface="Arial"/>
                <a:cs typeface="Arial"/>
              </a:defRPr>
            </a:pPr>
            <a:r>
              <a:rPr sz="3375" b="1">
                <a:solidFill>
                  <a:srgbClr val="672F3E"/>
                </a:solidFill>
                <a:latin typeface="Arial"/>
                <a:ea typeface="Arial"/>
                <a:cs typeface="Arial"/>
              </a:rPr>
              <a:t>La réservation du dernier stock</a:t>
            </a:r>
          </a:p>
        </p:txBody>
      </p:sp>
      <p:sp>
        <p:nvSpPr>
          <p:cNvPr id="2" name="09">
            <a:extLst xmlns:a="http://schemas.openxmlformats.org/drawingml/2006/main">
              <a:ext uri="{FF2B5EF4-FFF2-40B4-BE49-F238E27FC236}">
                <a16:creationId xmlns:a16="http://schemas.microsoft.com/office/drawing/2014/main" id="{83115EC6-DEB0-43B3-A9CB-17A0345CA5F4}"/>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2665B"/>
                </a:solidFill>
                <a:latin typeface="Arial"/>
                <a:ea typeface="Arial"/>
                <a:cs typeface="Arial"/>
              </a:defRPr>
            </a:pPr>
            <a:r>
              <a:rPr sz="1200" b="0">
                <a:solidFill>
                  <a:srgbClr val="62665B"/>
                </a:solidFill>
                <a:latin typeface="Arial"/>
                <a:ea typeface="Arial"/>
                <a:cs typeface="Arial"/>
              </a:rPr>
              <a:t>09</a:t>
            </a:r>
          </a:p>
        </p:txBody>
      </p:sp>
      <p:sp>
        <p:nvSpPr>
          <p:cNvPr id="3" name="Une transaction protège la confirmation">
            <a:extLst xmlns:a="http://schemas.openxmlformats.org/drawingml/2006/main">
              <a:ext uri="{FF2B5EF4-FFF2-40B4-BE49-F238E27FC236}">
                <a16:creationId xmlns:a16="http://schemas.microsoft.com/office/drawing/2014/main" id="{F2CFDEAF-C5EB-4CA7-84FB-EAA6D810FCA4}"/>
              </a:ext>
            </a:extLst>
          </p:cNvPr>
          <p:cNvSpPr>
            <a:spLocks xmlns:a="http://schemas.openxmlformats.org/drawingml/2006/main" noGrp="1"/>
          </p:cNvSpPr>
          <p:nvPr/>
        </p:nvSpPr>
        <p:spPr>
          <a:xfrm xmlns:a="http://schemas.openxmlformats.org/drawingml/2006/main">
            <a:off x="609600" y="154305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672F3E"/>
                </a:solidFill>
                <a:latin typeface="Arial"/>
                <a:ea typeface="Arial"/>
                <a:cs typeface="Arial"/>
              </a:defRPr>
            </a:pPr>
            <a:r>
              <a:rPr sz="2550" b="1">
                <a:solidFill>
                  <a:srgbClr val="672F3E"/>
                </a:solidFill>
                <a:latin typeface="Arial"/>
                <a:ea typeface="Arial"/>
                <a:cs typeface="Arial"/>
              </a:rPr>
              <a:t>Une transaction protège la confirmation</a:t>
            </a:r>
          </a:p>
        </p:txBody>
      </p:sp>
      <p:sp>
        <p:nvSpPr>
          <p:cNvPr id="4" name="1. Verrouiller le menu&#10;&#10;2. Revérifier les conditions et">
            <a:extLst xmlns:a="http://schemas.openxmlformats.org/drawingml/2006/main">
              <a:ext uri="{FF2B5EF4-FFF2-40B4-BE49-F238E27FC236}">
                <a16:creationId xmlns:a16="http://schemas.microsoft.com/office/drawing/2014/main" id="{BEC2AE82-DF0A-4BEA-A0B1-FDB57B08AAC3}"/>
              </a:ext>
            </a:extLst>
          </p:cNvPr>
          <p:cNvSpPr>
            <a:spLocks xmlns:a="http://schemas.openxmlformats.org/drawingml/2006/main" noGrp="1"/>
          </p:cNvSpPr>
          <p:nvPr/>
        </p:nvSpPr>
        <p:spPr>
          <a:xfrm xmlns:a="http://schemas.openxmlformats.org/drawingml/2006/main">
            <a:off x="609600" y="2524125"/>
            <a:ext cx="7429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92C25"/>
                </a:solidFill>
                <a:latin typeface="Arial"/>
                <a:ea typeface="Arial"/>
                <a:cs typeface="Arial"/>
              </a:defRPr>
            </a:pPr>
            <a:r>
              <a:rPr sz="2175" b="0">
                <a:solidFill>
                  <a:srgbClr val="292C25"/>
                </a:solidFill>
                <a:latin typeface="Arial"/>
                <a:ea typeface="Arial"/>
                <a:cs typeface="Arial"/>
              </a:rPr>
              <a:t>1. Verrouiller le menu</a:t>
            </a:r>
          </a:p>
          <a:p xmlns:a="http://schemas.openxmlformats.org/drawingml/2006/main">
            <a:r>
              <a:t/>
            </a:r>
          </a:p>
          <a:p xmlns:a="http://schemas.openxmlformats.org/drawingml/2006/main">
            <a:pPr>
              <a:defRPr sz="2175" b="0">
                <a:solidFill>
                  <a:srgbClr val="292C25"/>
                </a:solidFill>
                <a:latin typeface="Arial"/>
                <a:ea typeface="Arial"/>
                <a:cs typeface="Arial"/>
              </a:defRPr>
            </a:pPr>
            <a:r>
              <a:rPr sz="2175" b="0">
                <a:solidFill>
                  <a:srgbClr val="292C25"/>
                </a:solidFill>
                <a:latin typeface="Arial"/>
                <a:ea typeface="Arial"/>
                <a:cs typeface="Arial"/>
              </a:rPr>
              <a:t>2. Revérifier les conditions et le stock</a:t>
            </a:r>
          </a:p>
          <a:p xmlns:a="http://schemas.openxmlformats.org/drawingml/2006/main">
            <a:r>
              <a:t/>
            </a:r>
          </a:p>
          <a:p xmlns:a="http://schemas.openxmlformats.org/drawingml/2006/main">
            <a:pPr>
              <a:defRPr sz="2175" b="0">
                <a:solidFill>
                  <a:srgbClr val="292C25"/>
                </a:solidFill>
                <a:latin typeface="Arial"/>
                <a:ea typeface="Arial"/>
                <a:cs typeface="Arial"/>
              </a:defRPr>
            </a:pPr>
            <a:r>
              <a:rPr sz="2175" b="0">
                <a:solidFill>
                  <a:srgbClr val="292C25"/>
                </a:solidFill>
                <a:latin typeface="Arial"/>
                <a:ea typeface="Arial"/>
                <a:cs typeface="Arial"/>
              </a:rPr>
              <a:t>3. Enregistrer la commande et son historique</a:t>
            </a:r>
          </a:p>
          <a:p xmlns:a="http://schemas.openxmlformats.org/drawingml/2006/main">
            <a:r>
              <a:t/>
            </a:r>
          </a:p>
          <a:p xmlns:a="http://schemas.openxmlformats.org/drawingml/2006/main">
            <a:pPr>
              <a:defRPr sz="2175" b="0">
                <a:solidFill>
                  <a:srgbClr val="292C25"/>
                </a:solidFill>
                <a:latin typeface="Arial"/>
                <a:ea typeface="Arial"/>
                <a:cs typeface="Arial"/>
              </a:defRPr>
            </a:pPr>
            <a:r>
              <a:rPr sz="2175" b="0">
                <a:solidFill>
                  <a:srgbClr val="292C25"/>
                </a:solidFill>
                <a:latin typeface="Arial"/>
                <a:ea typeface="Arial"/>
                <a:cs typeface="Arial"/>
              </a:rPr>
              <a:t>4. Décrémenter le stock puis valider</a:t>
            </a:r>
          </a:p>
        </p:txBody>
      </p:sp>
      <p:sp>
        <p:nvSpPr>
          <p:cNvPr id="5" name="Deux demandes&#10;concurrentes&#10;&#10;Une seule&#10;réservation">
            <a:extLst xmlns:a="http://schemas.openxmlformats.org/drawingml/2006/main">
              <a:ext uri="{FF2B5EF4-FFF2-40B4-BE49-F238E27FC236}">
                <a16:creationId xmlns:a16="http://schemas.microsoft.com/office/drawing/2014/main" id="{5DD08B6A-85AB-45EB-A7FB-3370ECBC4646}"/>
              </a:ext>
            </a:extLst>
          </p:cNvPr>
          <p:cNvSpPr>
            <a:spLocks xmlns:a="http://schemas.openxmlformats.org/drawingml/2006/main" noGrp="1"/>
          </p:cNvSpPr>
          <p:nvPr/>
        </p:nvSpPr>
        <p:spPr>
          <a:xfrm xmlns:a="http://schemas.openxmlformats.org/drawingml/2006/main">
            <a:off x="8572500" y="2571750"/>
            <a:ext cx="2952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526B57"/>
                </a:solidFill>
                <a:latin typeface="Arial"/>
                <a:ea typeface="Arial"/>
                <a:cs typeface="Arial"/>
              </a:defRPr>
            </a:pPr>
            <a:r>
              <a:rPr sz="2625" b="1">
                <a:solidFill>
                  <a:srgbClr val="526B57"/>
                </a:solidFill>
                <a:latin typeface="Arial"/>
                <a:ea typeface="Arial"/>
                <a:cs typeface="Arial"/>
              </a:rPr>
              <a:t>Deux demandes</a:t>
            </a:r>
          </a:p>
          <a:p xmlns:a="http://schemas.openxmlformats.org/drawingml/2006/main">
            <a:pPr>
              <a:defRPr sz="2625" b="1">
                <a:solidFill>
                  <a:srgbClr val="526B57"/>
                </a:solidFill>
                <a:latin typeface="Arial"/>
                <a:ea typeface="Arial"/>
                <a:cs typeface="Arial"/>
              </a:defRPr>
            </a:pPr>
            <a:r>
              <a:rPr sz="2625" b="1">
                <a:solidFill>
                  <a:srgbClr val="526B57"/>
                </a:solidFill>
                <a:latin typeface="Arial"/>
                <a:ea typeface="Arial"/>
                <a:cs typeface="Arial"/>
              </a:rPr>
              <a:t>concurrentes</a:t>
            </a:r>
          </a:p>
          <a:p xmlns:a="http://schemas.openxmlformats.org/drawingml/2006/main">
            <a:r>
              <a:t/>
            </a:r>
          </a:p>
          <a:p xmlns:a="http://schemas.openxmlformats.org/drawingml/2006/main">
            <a:pPr>
              <a:defRPr sz="2625" b="1">
                <a:solidFill>
                  <a:srgbClr val="526B57"/>
                </a:solidFill>
                <a:latin typeface="Arial"/>
                <a:ea typeface="Arial"/>
                <a:cs typeface="Arial"/>
              </a:defRPr>
            </a:pPr>
            <a:r>
              <a:rPr sz="2625" b="1">
                <a:solidFill>
                  <a:srgbClr val="526B57"/>
                </a:solidFill>
                <a:latin typeface="Arial"/>
                <a:ea typeface="Arial"/>
                <a:cs typeface="Arial"/>
              </a:rPr>
              <a:t>Une seule</a:t>
            </a:r>
          </a:p>
          <a:p xmlns:a="http://schemas.openxmlformats.org/drawingml/2006/main">
            <a:pPr>
              <a:defRPr sz="2625" b="1">
                <a:solidFill>
                  <a:srgbClr val="526B57"/>
                </a:solidFill>
                <a:latin typeface="Arial"/>
                <a:ea typeface="Arial"/>
                <a:cs typeface="Arial"/>
              </a:defRPr>
            </a:pPr>
            <a:r>
              <a:rPr sz="2625" b="1">
                <a:solidFill>
                  <a:srgbClr val="526B57"/>
                </a:solidFill>
                <a:latin typeface="Arial"/>
                <a:ea typeface="Arial"/>
                <a:cs typeface="Arial"/>
              </a:rPr>
              <a:t>réservation</a:t>
            </a:r>
          </a:p>
        </p:txBody>
      </p:sp>
    </p:spTree>
    <p:extLst>
      <p:ext uri="{BB962C8B-B14F-4D97-AF65-F5344CB8AC3E}">
        <p14:creationId xmlns:p14="http://schemas.microsoft.com/office/powerpoint/2010/main" val="1775376321"/>
      </p:ext>
    </p:extLst>
  </p:cSld>
</p:sld>
</file>

<file path=ppt/slides/slide10.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1" name="Les contrôles de sécurité">
            <a:extLst xmlns:a="http://schemas.openxmlformats.org/drawingml/2006/main">
              <a:ext uri="{FF2B5EF4-FFF2-40B4-BE49-F238E27FC236}">
                <a16:creationId xmlns:a16="http://schemas.microsoft.com/office/drawing/2014/main" id="{190A1277-5CAE-43AF-90A1-9535403D90B3}"/>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672F3E"/>
                </a:solidFill>
                <a:latin typeface="Arial"/>
                <a:ea typeface="Arial"/>
                <a:cs typeface="Arial"/>
              </a:defRPr>
            </a:pPr>
            <a:r>
              <a:rPr sz="3375" b="1">
                <a:solidFill>
                  <a:srgbClr val="672F3E"/>
                </a:solidFill>
                <a:latin typeface="Arial"/>
                <a:ea typeface="Arial"/>
                <a:cs typeface="Arial"/>
              </a:rPr>
              <a:t>Les contrôles de sécurité</a:t>
            </a:r>
          </a:p>
        </p:txBody>
      </p:sp>
      <p:sp>
        <p:nvSpPr>
          <p:cNvPr id="2" name="10">
            <a:extLst xmlns:a="http://schemas.openxmlformats.org/drawingml/2006/main">
              <a:ext uri="{FF2B5EF4-FFF2-40B4-BE49-F238E27FC236}">
                <a16:creationId xmlns:a16="http://schemas.microsoft.com/office/drawing/2014/main" id="{7E58D7B1-706D-431B-9D12-0A70D01365A9}"/>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2665B"/>
                </a:solidFill>
                <a:latin typeface="Arial"/>
                <a:ea typeface="Arial"/>
                <a:cs typeface="Arial"/>
              </a:defRPr>
            </a:pPr>
            <a:r>
              <a:rPr sz="1200" b="0">
                <a:solidFill>
                  <a:srgbClr val="62665B"/>
                </a:solidFill>
                <a:latin typeface="Arial"/>
                <a:ea typeface="Arial"/>
                <a:cs typeface="Arial"/>
              </a:rPr>
              <a:t>10</a:t>
            </a:r>
          </a:p>
        </p:txBody>
      </p:sp>
      <p:sp>
        <p:nvSpPr>
          <p:cNvPr id="3" name="Droits côté serveur">
            <a:extLst xmlns:a="http://schemas.openxmlformats.org/drawingml/2006/main">
              <a:ext uri="{FF2B5EF4-FFF2-40B4-BE49-F238E27FC236}">
                <a16:creationId xmlns:a16="http://schemas.microsoft.com/office/drawing/2014/main" id="{8700E5FD-BA08-4FBF-84DE-F9C0C0CA204D}"/>
              </a:ext>
            </a:extLst>
          </p:cNvPr>
          <p:cNvSpPr>
            <a:spLocks xmlns:a="http://schemas.openxmlformats.org/drawingml/2006/main" noGrp="1"/>
          </p:cNvSpPr>
          <p:nvPr/>
        </p:nvSpPr>
        <p:spPr>
          <a:xfrm xmlns:a="http://schemas.openxmlformats.org/drawingml/2006/main">
            <a:off x="609600" y="161925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672F3E"/>
                </a:solidFill>
                <a:latin typeface="Arial"/>
                <a:ea typeface="Arial"/>
                <a:cs typeface="Arial"/>
              </a:defRPr>
            </a:pPr>
            <a:r>
              <a:rPr sz="2250" b="1">
                <a:solidFill>
                  <a:srgbClr val="672F3E"/>
                </a:solidFill>
                <a:latin typeface="Arial"/>
                <a:ea typeface="Arial"/>
                <a:cs typeface="Arial"/>
              </a:rPr>
              <a:t>Droits côté serveur</a:t>
            </a:r>
          </a:p>
        </p:txBody>
      </p:sp>
      <p:sp>
        <p:nvSpPr>
          <p:cNvPr id="4" name="Rôle, session active et propriétaire&#10;Vérification à cha">
            <a:extLst xmlns:a="http://schemas.openxmlformats.org/drawingml/2006/main">
              <a:ext uri="{FF2B5EF4-FFF2-40B4-BE49-F238E27FC236}">
                <a16:creationId xmlns:a16="http://schemas.microsoft.com/office/drawing/2014/main" id="{D655C509-5D3D-4C62-8CF1-A2EF6DCD4B5E}"/>
              </a:ext>
            </a:extLst>
          </p:cNvPr>
          <p:cNvSpPr>
            <a:spLocks xmlns:a="http://schemas.openxmlformats.org/drawingml/2006/main" noGrp="1"/>
          </p:cNvSpPr>
          <p:nvPr/>
        </p:nvSpPr>
        <p:spPr>
          <a:xfrm xmlns:a="http://schemas.openxmlformats.org/drawingml/2006/main">
            <a:off x="609600" y="2152650"/>
            <a:ext cx="5143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Rôle, session active et propriétaire</a:t>
            </a:r>
          </a:p>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Vérification à chaque action sensible</a:t>
            </a:r>
          </a:p>
        </p:txBody>
      </p:sp>
      <p:sp>
        <p:nvSpPr>
          <p:cNvPr id="5" name="Entrées et sorties">
            <a:extLst xmlns:a="http://schemas.openxmlformats.org/drawingml/2006/main">
              <a:ext uri="{FF2B5EF4-FFF2-40B4-BE49-F238E27FC236}">
                <a16:creationId xmlns:a16="http://schemas.microsoft.com/office/drawing/2014/main" id="{A32FD6D3-EA5F-48A9-9912-225AF7AC78A5}"/>
              </a:ext>
            </a:extLst>
          </p:cNvPr>
          <p:cNvSpPr>
            <a:spLocks xmlns:a="http://schemas.openxmlformats.org/drawingml/2006/main" noGrp="1"/>
          </p:cNvSpPr>
          <p:nvPr/>
        </p:nvSpPr>
        <p:spPr>
          <a:xfrm xmlns:a="http://schemas.openxmlformats.org/drawingml/2006/main">
            <a:off x="6572250" y="1619250"/>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672F3E"/>
                </a:solidFill>
                <a:latin typeface="Arial"/>
                <a:ea typeface="Arial"/>
                <a:cs typeface="Arial"/>
              </a:defRPr>
            </a:pPr>
            <a:r>
              <a:rPr sz="2250" b="1">
                <a:solidFill>
                  <a:srgbClr val="672F3E"/>
                </a:solidFill>
                <a:latin typeface="Arial"/>
                <a:ea typeface="Arial"/>
                <a:cs typeface="Arial"/>
              </a:rPr>
              <a:t>Entrées et sorties</a:t>
            </a:r>
          </a:p>
        </p:txBody>
      </p:sp>
      <p:sp>
        <p:nvSpPr>
          <p:cNvPr id="6" name="Requêtes préparées PDO&#10;Validation et échappement HTML">
            <a:extLst xmlns:a="http://schemas.openxmlformats.org/drawingml/2006/main">
              <a:ext uri="{FF2B5EF4-FFF2-40B4-BE49-F238E27FC236}">
                <a16:creationId xmlns:a16="http://schemas.microsoft.com/office/drawing/2014/main" id="{E3102991-1262-4F87-97AD-C24289E915C9}"/>
              </a:ext>
            </a:extLst>
          </p:cNvPr>
          <p:cNvSpPr>
            <a:spLocks xmlns:a="http://schemas.openxmlformats.org/drawingml/2006/main" noGrp="1"/>
          </p:cNvSpPr>
          <p:nvPr/>
        </p:nvSpPr>
        <p:spPr>
          <a:xfrm xmlns:a="http://schemas.openxmlformats.org/drawingml/2006/main">
            <a:off x="6572250" y="2152650"/>
            <a:ext cx="5000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Requêtes préparées PDO</a:t>
            </a:r>
          </a:p>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Validation et échappement HTML</a:t>
            </a:r>
          </a:p>
        </p:txBody>
      </p:sp>
      <p:sp>
        <p:nvSpPr>
          <p:cNvPr id="7" name="Actions protégées">
            <a:extLst xmlns:a="http://schemas.openxmlformats.org/drawingml/2006/main">
              <a:ext uri="{FF2B5EF4-FFF2-40B4-BE49-F238E27FC236}">
                <a16:creationId xmlns:a16="http://schemas.microsoft.com/office/drawing/2014/main" id="{39C60816-46B0-40D8-9111-1BDFF1EE4D09}"/>
              </a:ext>
            </a:extLst>
          </p:cNvPr>
          <p:cNvSpPr>
            <a:spLocks xmlns:a="http://schemas.openxmlformats.org/drawingml/2006/main" noGrp="1"/>
          </p:cNvSpPr>
          <p:nvPr/>
        </p:nvSpPr>
        <p:spPr>
          <a:xfrm xmlns:a="http://schemas.openxmlformats.org/drawingml/2006/main">
            <a:off x="609600" y="400050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672F3E"/>
                </a:solidFill>
                <a:latin typeface="Arial"/>
                <a:ea typeface="Arial"/>
                <a:cs typeface="Arial"/>
              </a:defRPr>
            </a:pPr>
            <a:r>
              <a:rPr sz="2250" b="1">
                <a:solidFill>
                  <a:srgbClr val="672F3E"/>
                </a:solidFill>
                <a:latin typeface="Arial"/>
                <a:ea typeface="Arial"/>
                <a:cs typeface="Arial"/>
              </a:rPr>
              <a:t>Actions protégées</a:t>
            </a:r>
          </a:p>
        </p:txBody>
      </p:sp>
      <p:sp>
        <p:nvSpPr>
          <p:cNvPr id="8" name="POST et jetons CSRF&#10;Réinitialisation à usage unique">
            <a:extLst xmlns:a="http://schemas.openxmlformats.org/drawingml/2006/main">
              <a:ext uri="{FF2B5EF4-FFF2-40B4-BE49-F238E27FC236}">
                <a16:creationId xmlns:a16="http://schemas.microsoft.com/office/drawing/2014/main" id="{938BD863-27A7-4E0D-A158-02E5D7C78A68}"/>
              </a:ext>
            </a:extLst>
          </p:cNvPr>
          <p:cNvSpPr>
            <a:spLocks xmlns:a="http://schemas.openxmlformats.org/drawingml/2006/main" noGrp="1"/>
          </p:cNvSpPr>
          <p:nvPr/>
        </p:nvSpPr>
        <p:spPr>
          <a:xfrm xmlns:a="http://schemas.openxmlformats.org/drawingml/2006/main">
            <a:off x="609600" y="4533900"/>
            <a:ext cx="5143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POST et jetons CSRF</a:t>
            </a:r>
          </a:p>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Réinitialisation à usage unique</a:t>
            </a:r>
          </a:p>
        </p:txBody>
      </p:sp>
      <p:sp>
        <p:nvSpPr>
          <p:cNvPr id="9" name="Secrets isolés">
            <a:extLst xmlns:a="http://schemas.openxmlformats.org/drawingml/2006/main">
              <a:ext uri="{FF2B5EF4-FFF2-40B4-BE49-F238E27FC236}">
                <a16:creationId xmlns:a16="http://schemas.microsoft.com/office/drawing/2014/main" id="{99A3A918-C4BC-4DE9-8FA1-63CA6B63C141}"/>
              </a:ext>
            </a:extLst>
          </p:cNvPr>
          <p:cNvSpPr>
            <a:spLocks xmlns:a="http://schemas.openxmlformats.org/drawingml/2006/main" noGrp="1"/>
          </p:cNvSpPr>
          <p:nvPr/>
        </p:nvSpPr>
        <p:spPr>
          <a:xfrm xmlns:a="http://schemas.openxmlformats.org/drawingml/2006/main">
            <a:off x="6572250" y="4000500"/>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672F3E"/>
                </a:solidFill>
                <a:latin typeface="Arial"/>
                <a:ea typeface="Arial"/>
                <a:cs typeface="Arial"/>
              </a:defRPr>
            </a:pPr>
            <a:r>
              <a:rPr sz="2250" b="1">
                <a:solidFill>
                  <a:srgbClr val="672F3E"/>
                </a:solidFill>
                <a:latin typeface="Arial"/>
                <a:ea typeface="Arial"/>
                <a:cs typeface="Arial"/>
              </a:rPr>
              <a:t>Secrets isolés</a:t>
            </a:r>
          </a:p>
        </p:txBody>
      </p:sp>
      <p:sp>
        <p:nvSpPr>
          <p:cNvPr id="10" name="Configurations hors dépôt&#10;Racine web limitée à Public">
            <a:extLst xmlns:a="http://schemas.openxmlformats.org/drawingml/2006/main">
              <a:ext uri="{FF2B5EF4-FFF2-40B4-BE49-F238E27FC236}">
                <a16:creationId xmlns:a16="http://schemas.microsoft.com/office/drawing/2014/main" id="{A8848DAB-B912-43F8-A0B6-BDC0E477F30A}"/>
              </a:ext>
            </a:extLst>
          </p:cNvPr>
          <p:cNvSpPr>
            <a:spLocks xmlns:a="http://schemas.openxmlformats.org/drawingml/2006/main" noGrp="1"/>
          </p:cNvSpPr>
          <p:nvPr/>
        </p:nvSpPr>
        <p:spPr>
          <a:xfrm xmlns:a="http://schemas.openxmlformats.org/drawingml/2006/main">
            <a:off x="6572250" y="4533900"/>
            <a:ext cx="5000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Configurations hors dépôt</a:t>
            </a:r>
          </a:p>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Racine web limitée à Public</a:t>
            </a:r>
          </a:p>
        </p:txBody>
      </p:sp>
    </p:spTree>
    <p:extLst>
      <p:ext uri="{BB962C8B-B14F-4D97-AF65-F5344CB8AC3E}">
        <p14:creationId xmlns:p14="http://schemas.microsoft.com/office/powerpoint/2010/main" val="1077542115"/>
      </p:ext>
    </p:extLst>
  </p:cSld>
</p:sld>
</file>

<file path=ppt/slides/slide11.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6" name="MySQL et Firebase">
            <a:extLst xmlns:a="http://schemas.openxmlformats.org/drawingml/2006/main">
              <a:ext uri="{FF2B5EF4-FFF2-40B4-BE49-F238E27FC236}">
                <a16:creationId xmlns:a16="http://schemas.microsoft.com/office/drawing/2014/main" id="{EEA32E27-DD42-44A3-B55A-000CEF2FA39D}"/>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672F3E"/>
                </a:solidFill>
                <a:latin typeface="Arial"/>
                <a:ea typeface="Arial"/>
                <a:cs typeface="Arial"/>
              </a:defRPr>
            </a:pPr>
            <a:r>
              <a:rPr sz="3375" b="1">
                <a:solidFill>
                  <a:srgbClr val="672F3E"/>
                </a:solidFill>
                <a:latin typeface="Arial"/>
                <a:ea typeface="Arial"/>
                <a:cs typeface="Arial"/>
              </a:rPr>
              <a:t>MySQL et Firebase</a:t>
            </a:r>
          </a:p>
        </p:txBody>
      </p:sp>
      <p:sp>
        <p:nvSpPr>
          <p:cNvPr id="2" name="11">
            <a:extLst xmlns:a="http://schemas.openxmlformats.org/drawingml/2006/main">
              <a:ext uri="{FF2B5EF4-FFF2-40B4-BE49-F238E27FC236}">
                <a16:creationId xmlns:a16="http://schemas.microsoft.com/office/drawing/2014/main" id="{7BA27742-EF81-415C-8070-A0C94283290D}"/>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2665B"/>
                </a:solidFill>
                <a:latin typeface="Arial"/>
                <a:ea typeface="Arial"/>
                <a:cs typeface="Arial"/>
              </a:defRPr>
            </a:pPr>
            <a:r>
              <a:rPr sz="1200" b="0">
                <a:solidFill>
                  <a:srgbClr val="62665B"/>
                </a:solidFill>
                <a:latin typeface="Arial"/>
                <a:ea typeface="Arial"/>
                <a:cs typeface="Arial"/>
              </a:rPr>
              <a:t>11</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402af3c77b34b54"/>
          <a:stretch xmlns:a="http://schemas.openxmlformats.org/drawingml/2006/main"/>
        </p:blipFill>
        <p:spPr>
          <a:xfrm xmlns:a="http://schemas.openxmlformats.org/drawingml/2006/main">
            <a:off x="612775" y="1714500"/>
            <a:ext cx="7518400" cy="4229100"/>
          </a:xfrm>
          <a:prstGeom xmlns:a="http://schemas.openxmlformats.org/drawingml/2006/main" prst="rect">
            <a:avLst/>
          </a:prstGeom>
        </p:spPr>
      </p:pic>
      <p:sp>
        <p:nvSpPr>
          <p:cNvPr id="4" name="MySQL&#10;Données métier&#10;&#10;Synchronisation&#10;Toutes les 15 min">
            <a:extLst xmlns:a="http://schemas.openxmlformats.org/drawingml/2006/main">
              <a:ext uri="{FF2B5EF4-FFF2-40B4-BE49-F238E27FC236}">
                <a16:creationId xmlns:a16="http://schemas.microsoft.com/office/drawing/2014/main" id="{96D732C5-CDF8-42C9-9AB8-AF247DA683F6}"/>
              </a:ext>
            </a:extLst>
          </p:cNvPr>
          <p:cNvSpPr>
            <a:spLocks xmlns:a="http://schemas.openxmlformats.org/drawingml/2006/main" noGrp="1"/>
          </p:cNvSpPr>
          <p:nvPr/>
        </p:nvSpPr>
        <p:spPr>
          <a:xfrm xmlns:a="http://schemas.openxmlformats.org/drawingml/2006/main">
            <a:off x="8477250" y="1714500"/>
            <a:ext cx="3095625"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MySQL</a:t>
            </a:r>
          </a:p>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Données métier</a:t>
            </a:r>
          </a:p>
          <a:p xmlns:a="http://schemas.openxmlformats.org/drawingml/2006/main">
            <a:r>
              <a:t/>
            </a:r>
          </a:p>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Synchronisation</a:t>
            </a:r>
          </a:p>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Toutes les 15 minutes</a:t>
            </a:r>
          </a:p>
          <a:p xmlns:a="http://schemas.openxmlformats.org/drawingml/2006/main">
            <a:r>
              <a:t/>
            </a:r>
          </a:p>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Firebase</a:t>
            </a:r>
          </a:p>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Instantané statistique</a:t>
            </a:r>
          </a:p>
        </p:txBody>
      </p:sp>
      <p:sp>
        <p:nvSpPr>
          <p:cNvPr id="5" name="Capture de recette avec données fictives">
            <a:extLst xmlns:a="http://schemas.openxmlformats.org/drawingml/2006/main">
              <a:ext uri="{FF2B5EF4-FFF2-40B4-BE49-F238E27FC236}">
                <a16:creationId xmlns:a16="http://schemas.microsoft.com/office/drawing/2014/main" id="{74FD9C93-F729-4D68-ADCB-F2B380A53DB4}"/>
              </a:ext>
            </a:extLst>
          </p:cNvPr>
          <p:cNvSpPr>
            <a:spLocks xmlns:a="http://schemas.openxmlformats.org/drawingml/2006/main" noGrp="1"/>
          </p:cNvSpPr>
          <p:nvPr/>
        </p:nvSpPr>
        <p:spPr>
          <a:xfrm xmlns:a="http://schemas.openxmlformats.org/drawingml/2006/main">
            <a:off x="609600" y="60483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2665B"/>
                </a:solidFill>
                <a:latin typeface="Arial"/>
                <a:ea typeface="Arial"/>
                <a:cs typeface="Arial"/>
              </a:defRPr>
            </a:pPr>
            <a:r>
              <a:rPr sz="1425" b="0">
                <a:solidFill>
                  <a:srgbClr val="62665B"/>
                </a:solidFill>
                <a:latin typeface="Arial"/>
                <a:ea typeface="Arial"/>
                <a:cs typeface="Arial"/>
              </a:rPr>
              <a:t>Capture de recette avec données fictives</a:t>
            </a:r>
          </a:p>
        </p:txBody>
      </p:sp>
    </p:spTree>
    <p:extLst>
      <p:ext uri="{BB962C8B-B14F-4D97-AF65-F5344CB8AC3E}">
        <p14:creationId xmlns:p14="http://schemas.microsoft.com/office/powerpoint/2010/main" val="34552407"/>
      </p:ext>
    </p:extLst>
  </p:cSld>
</p:sld>
</file>

<file path=ppt/slides/slide12.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10" name="Les preuves de fonctionnement">
            <a:extLst xmlns:a="http://schemas.openxmlformats.org/drawingml/2006/main">
              <a:ext uri="{FF2B5EF4-FFF2-40B4-BE49-F238E27FC236}">
                <a16:creationId xmlns:a16="http://schemas.microsoft.com/office/drawing/2014/main" id="{D99B1CB3-4E35-477F-942B-B5D7C767466B}"/>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672F3E"/>
                </a:solidFill>
                <a:latin typeface="Arial"/>
                <a:ea typeface="Arial"/>
                <a:cs typeface="Arial"/>
              </a:defRPr>
            </a:pPr>
            <a:r>
              <a:rPr sz="3375" b="1">
                <a:solidFill>
                  <a:srgbClr val="672F3E"/>
                </a:solidFill>
                <a:latin typeface="Arial"/>
                <a:ea typeface="Arial"/>
                <a:cs typeface="Arial"/>
              </a:rPr>
              <a:t>Les preuves de fonctionnement</a:t>
            </a:r>
          </a:p>
        </p:txBody>
      </p:sp>
      <p:sp>
        <p:nvSpPr>
          <p:cNvPr id="2" name="12">
            <a:extLst xmlns:a="http://schemas.openxmlformats.org/drawingml/2006/main">
              <a:ext uri="{FF2B5EF4-FFF2-40B4-BE49-F238E27FC236}">
                <a16:creationId xmlns:a16="http://schemas.microsoft.com/office/drawing/2014/main" id="{23658B11-66F6-4ECA-8BBE-E8410FD476AD}"/>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2665B"/>
                </a:solidFill>
                <a:latin typeface="Arial"/>
                <a:ea typeface="Arial"/>
                <a:cs typeface="Arial"/>
              </a:defRPr>
            </a:pPr>
            <a:r>
              <a:rPr sz="1200" b="0">
                <a:solidFill>
                  <a:srgbClr val="62665B"/>
                </a:solidFill>
                <a:latin typeface="Arial"/>
                <a:ea typeface="Arial"/>
                <a:cs typeface="Arial"/>
              </a:rPr>
              <a:t>12</a:t>
            </a:r>
          </a:p>
        </p:txBody>
      </p:sp>
      <p:sp>
        <p:nvSpPr>
          <p:cNvPr id="3" name="196">
            <a:extLst xmlns:a="http://schemas.openxmlformats.org/drawingml/2006/main">
              <a:ext uri="{FF2B5EF4-FFF2-40B4-BE49-F238E27FC236}">
                <a16:creationId xmlns:a16="http://schemas.microsoft.com/office/drawing/2014/main" id="{E1D61119-2046-4DB7-B9C1-43174A961A93}"/>
              </a:ext>
            </a:extLst>
          </p:cNvPr>
          <p:cNvSpPr>
            <a:spLocks xmlns:a="http://schemas.openxmlformats.org/drawingml/2006/main" noGrp="1"/>
          </p:cNvSpPr>
          <p:nvPr/>
        </p:nvSpPr>
        <p:spPr>
          <a:xfrm xmlns:a="http://schemas.openxmlformats.org/drawingml/2006/main">
            <a:off x="609600" y="219075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375" b="1">
                <a:solidFill>
                  <a:srgbClr val="672F3E"/>
                </a:solidFill>
                <a:latin typeface="Arial"/>
                <a:ea typeface="Arial"/>
                <a:cs typeface="Arial"/>
              </a:defRPr>
            </a:pPr>
            <a:r>
              <a:rPr sz="6375" b="1">
                <a:solidFill>
                  <a:srgbClr val="672F3E"/>
                </a:solidFill>
                <a:latin typeface="Arial"/>
                <a:ea typeface="Arial"/>
                <a:cs typeface="Arial"/>
              </a:rPr>
              <a:t>196</a:t>
            </a:r>
          </a:p>
        </p:txBody>
      </p:sp>
      <p:sp>
        <p:nvSpPr>
          <p:cNvPr id="4" name="Métier, HTTP, statistiques&#10;et images">
            <a:extLst xmlns:a="http://schemas.openxmlformats.org/drawingml/2006/main">
              <a:ext uri="{FF2B5EF4-FFF2-40B4-BE49-F238E27FC236}">
                <a16:creationId xmlns:a16="http://schemas.microsoft.com/office/drawing/2014/main" id="{CD3DA4B2-BCF3-4DDE-8947-EC3E5C4A354B}"/>
              </a:ext>
            </a:extLst>
          </p:cNvPr>
          <p:cNvSpPr>
            <a:spLocks xmlns:a="http://schemas.openxmlformats.org/drawingml/2006/main" noGrp="1"/>
          </p:cNvSpPr>
          <p:nvPr/>
        </p:nvSpPr>
        <p:spPr>
          <a:xfrm xmlns:a="http://schemas.openxmlformats.org/drawingml/2006/main">
            <a:off x="609600" y="3524250"/>
            <a:ext cx="314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92C25"/>
                </a:solidFill>
                <a:latin typeface="Arial"/>
                <a:ea typeface="Arial"/>
                <a:cs typeface="Arial"/>
              </a:defRPr>
            </a:pPr>
            <a:r>
              <a:rPr sz="2100" b="0">
                <a:solidFill>
                  <a:srgbClr val="292C25"/>
                </a:solidFill>
                <a:latin typeface="Arial"/>
                <a:ea typeface="Arial"/>
                <a:cs typeface="Arial"/>
              </a:rPr>
              <a:t>Métier, HTTP, statistiques</a:t>
            </a:r>
          </a:p>
          <a:p xmlns:a="http://schemas.openxmlformats.org/drawingml/2006/main">
            <a:pPr>
              <a:defRPr sz="2100" b="0">
                <a:solidFill>
                  <a:srgbClr val="292C25"/>
                </a:solidFill>
                <a:latin typeface="Arial"/>
                <a:ea typeface="Arial"/>
                <a:cs typeface="Arial"/>
              </a:defRPr>
            </a:pPr>
            <a:r>
              <a:rPr sz="2100" b="0">
                <a:solidFill>
                  <a:srgbClr val="292C25"/>
                </a:solidFill>
                <a:latin typeface="Arial"/>
                <a:ea typeface="Arial"/>
                <a:cs typeface="Arial"/>
              </a:rPr>
              <a:t>et images</a:t>
            </a:r>
          </a:p>
        </p:txBody>
      </p:sp>
      <p:sp>
        <p:nvSpPr>
          <p:cNvPr id="5" name="473">
            <a:extLst xmlns:a="http://schemas.openxmlformats.org/drawingml/2006/main">
              <a:ext uri="{FF2B5EF4-FFF2-40B4-BE49-F238E27FC236}">
                <a16:creationId xmlns:a16="http://schemas.microsoft.com/office/drawing/2014/main" id="{BC70A7C8-11A1-49B0-B863-DFA6721775A6}"/>
              </a:ext>
            </a:extLst>
          </p:cNvPr>
          <p:cNvSpPr>
            <a:spLocks xmlns:a="http://schemas.openxmlformats.org/drawingml/2006/main" noGrp="1"/>
          </p:cNvSpPr>
          <p:nvPr/>
        </p:nvSpPr>
        <p:spPr>
          <a:xfrm xmlns:a="http://schemas.openxmlformats.org/drawingml/2006/main">
            <a:off x="4524375" y="219075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375" b="1">
                <a:solidFill>
                  <a:srgbClr val="672F3E"/>
                </a:solidFill>
                <a:latin typeface="Arial"/>
                <a:ea typeface="Arial"/>
                <a:cs typeface="Arial"/>
              </a:defRPr>
            </a:pPr>
            <a:r>
              <a:rPr sz="6375" b="1">
                <a:solidFill>
                  <a:srgbClr val="672F3E"/>
                </a:solidFill>
                <a:latin typeface="Arial"/>
                <a:ea typeface="Arial"/>
                <a:cs typeface="Arial"/>
              </a:rPr>
              <a:t>473</a:t>
            </a:r>
          </a:p>
        </p:txBody>
      </p:sp>
      <p:sp>
        <p:nvSpPr>
          <p:cNvPr id="6" name="HTML et validation&#10;des formulaires">
            <a:extLst xmlns:a="http://schemas.openxmlformats.org/drawingml/2006/main">
              <a:ext uri="{FF2B5EF4-FFF2-40B4-BE49-F238E27FC236}">
                <a16:creationId xmlns:a16="http://schemas.microsoft.com/office/drawing/2014/main" id="{8C73B38D-9A74-4E59-886F-0F62FA7FBFA9}"/>
              </a:ext>
            </a:extLst>
          </p:cNvPr>
          <p:cNvSpPr>
            <a:spLocks xmlns:a="http://schemas.openxmlformats.org/drawingml/2006/main" noGrp="1"/>
          </p:cNvSpPr>
          <p:nvPr/>
        </p:nvSpPr>
        <p:spPr>
          <a:xfrm xmlns:a="http://schemas.openxmlformats.org/drawingml/2006/main">
            <a:off x="4524375" y="3524250"/>
            <a:ext cx="314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92C25"/>
                </a:solidFill>
                <a:latin typeface="Arial"/>
                <a:ea typeface="Arial"/>
                <a:cs typeface="Arial"/>
              </a:defRPr>
            </a:pPr>
            <a:r>
              <a:rPr sz="2100" b="0">
                <a:solidFill>
                  <a:srgbClr val="292C25"/>
                </a:solidFill>
                <a:latin typeface="Arial"/>
                <a:ea typeface="Arial"/>
                <a:cs typeface="Arial"/>
              </a:rPr>
              <a:t>HTML et validation</a:t>
            </a:r>
          </a:p>
          <a:p xmlns:a="http://schemas.openxmlformats.org/drawingml/2006/main">
            <a:pPr>
              <a:defRPr sz="2100" b="0">
                <a:solidFill>
                  <a:srgbClr val="292C25"/>
                </a:solidFill>
                <a:latin typeface="Arial"/>
                <a:ea typeface="Arial"/>
                <a:cs typeface="Arial"/>
              </a:defRPr>
            </a:pPr>
            <a:r>
              <a:rPr sz="2100" b="0">
                <a:solidFill>
                  <a:srgbClr val="292C25"/>
                </a:solidFill>
                <a:latin typeface="Arial"/>
                <a:ea typeface="Arial"/>
                <a:cs typeface="Arial"/>
              </a:rPr>
              <a:t>des formulaires</a:t>
            </a:r>
          </a:p>
        </p:txBody>
      </p:sp>
      <p:sp>
        <p:nvSpPr>
          <p:cNvPr id="7" name="38">
            <a:extLst xmlns:a="http://schemas.openxmlformats.org/drawingml/2006/main">
              <a:ext uri="{FF2B5EF4-FFF2-40B4-BE49-F238E27FC236}">
                <a16:creationId xmlns:a16="http://schemas.microsoft.com/office/drawing/2014/main" id="{44265864-F6BF-4177-B29C-49336F4BA916}"/>
              </a:ext>
            </a:extLst>
          </p:cNvPr>
          <p:cNvSpPr>
            <a:spLocks xmlns:a="http://schemas.openxmlformats.org/drawingml/2006/main" noGrp="1"/>
          </p:cNvSpPr>
          <p:nvPr/>
        </p:nvSpPr>
        <p:spPr>
          <a:xfrm xmlns:a="http://schemas.openxmlformats.org/drawingml/2006/main">
            <a:off x="8477250" y="219075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375" b="1">
                <a:solidFill>
                  <a:srgbClr val="672F3E"/>
                </a:solidFill>
                <a:latin typeface="Arial"/>
                <a:ea typeface="Arial"/>
                <a:cs typeface="Arial"/>
              </a:defRPr>
            </a:pPr>
            <a:r>
              <a:rPr sz="6375" b="1">
                <a:solidFill>
                  <a:srgbClr val="672F3E"/>
                </a:solidFill>
                <a:latin typeface="Arial"/>
                <a:ea typeface="Arial"/>
                <a:cs typeface="Arial"/>
              </a:rPr>
              <a:t>38</a:t>
            </a:r>
          </a:p>
        </p:txBody>
      </p:sp>
      <p:sp>
        <p:nvSpPr>
          <p:cNvPr id="8" name="Contrôles après&#10;publication">
            <a:extLst xmlns:a="http://schemas.openxmlformats.org/drawingml/2006/main">
              <a:ext uri="{FF2B5EF4-FFF2-40B4-BE49-F238E27FC236}">
                <a16:creationId xmlns:a16="http://schemas.microsoft.com/office/drawing/2014/main" id="{8DFD9C2F-5ECA-4A35-9D8A-A85EDEEF2293}"/>
              </a:ext>
            </a:extLst>
          </p:cNvPr>
          <p:cNvSpPr>
            <a:spLocks xmlns:a="http://schemas.openxmlformats.org/drawingml/2006/main" noGrp="1"/>
          </p:cNvSpPr>
          <p:nvPr/>
        </p:nvSpPr>
        <p:spPr>
          <a:xfrm xmlns:a="http://schemas.openxmlformats.org/drawingml/2006/main">
            <a:off x="8477250" y="3524250"/>
            <a:ext cx="314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92C25"/>
                </a:solidFill>
                <a:latin typeface="Arial"/>
                <a:ea typeface="Arial"/>
                <a:cs typeface="Arial"/>
              </a:defRPr>
            </a:pPr>
            <a:r>
              <a:rPr sz="2100" b="0">
                <a:solidFill>
                  <a:srgbClr val="292C25"/>
                </a:solidFill>
                <a:latin typeface="Arial"/>
                <a:ea typeface="Arial"/>
                <a:cs typeface="Arial"/>
              </a:rPr>
              <a:t>Contrôles après</a:t>
            </a:r>
          </a:p>
          <a:p xmlns:a="http://schemas.openxmlformats.org/drawingml/2006/main">
            <a:pPr>
              <a:defRPr sz="2100" b="0">
                <a:solidFill>
                  <a:srgbClr val="292C25"/>
                </a:solidFill>
                <a:latin typeface="Arial"/>
                <a:ea typeface="Arial"/>
                <a:cs typeface="Arial"/>
              </a:defRPr>
            </a:pPr>
            <a:r>
              <a:rPr sz="2100" b="0">
                <a:solidFill>
                  <a:srgbClr val="292C25"/>
                </a:solidFill>
                <a:latin typeface="Arial"/>
                <a:ea typeface="Arial"/>
                <a:cs typeface="Arial"/>
              </a:rPr>
              <a:t>publication</a:t>
            </a:r>
          </a:p>
        </p:txBody>
      </p:sp>
      <p:sp>
        <p:nvSpPr>
          <p:cNvPr id="9" name="Base de test séparée et emails capturés localement">
            <a:extLst xmlns:a="http://schemas.openxmlformats.org/drawingml/2006/main">
              <a:ext uri="{FF2B5EF4-FFF2-40B4-BE49-F238E27FC236}">
                <a16:creationId xmlns:a16="http://schemas.microsoft.com/office/drawing/2014/main" id="{A1439682-5B7F-44CF-98EF-51E48589F5BE}"/>
              </a:ext>
            </a:extLst>
          </p:cNvPr>
          <p:cNvSpPr>
            <a:spLocks xmlns:a="http://schemas.openxmlformats.org/drawingml/2006/main" noGrp="1"/>
          </p:cNvSpPr>
          <p:nvPr/>
        </p:nvSpPr>
        <p:spPr>
          <a:xfrm xmlns:a="http://schemas.openxmlformats.org/drawingml/2006/main">
            <a:off x="609600" y="55245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B57"/>
                </a:solidFill>
                <a:latin typeface="Arial"/>
                <a:ea typeface="Arial"/>
                <a:cs typeface="Arial"/>
              </a:defRPr>
            </a:pPr>
            <a:r>
              <a:rPr sz="2025" b="0">
                <a:solidFill>
                  <a:srgbClr val="526B57"/>
                </a:solidFill>
                <a:latin typeface="Arial"/>
                <a:ea typeface="Arial"/>
                <a:cs typeface="Arial"/>
              </a:rPr>
              <a:t>Base de test séparée et emails capturés localement</a:t>
            </a:r>
          </a:p>
        </p:txBody>
      </p:sp>
    </p:spTree>
    <p:extLst>
      <p:ext uri="{BB962C8B-B14F-4D97-AF65-F5344CB8AC3E}">
        <p14:creationId xmlns:p14="http://schemas.microsoft.com/office/powerpoint/2010/main" val="52296834"/>
      </p:ext>
    </p:extLst>
  </p:cSld>
</p:sld>
</file>

<file path=ppt/slides/slide13.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8" name="Déploiement et suivi du projet">
            <a:extLst xmlns:a="http://schemas.openxmlformats.org/drawingml/2006/main">
              <a:ext uri="{FF2B5EF4-FFF2-40B4-BE49-F238E27FC236}">
                <a16:creationId xmlns:a16="http://schemas.microsoft.com/office/drawing/2014/main" id="{AE23E22C-B002-4931-89B8-F7E2545EE815}"/>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672F3E"/>
                </a:solidFill>
                <a:latin typeface="Arial"/>
                <a:ea typeface="Arial"/>
                <a:cs typeface="Arial"/>
              </a:defRPr>
            </a:pPr>
            <a:r>
              <a:rPr sz="3375" b="1">
                <a:solidFill>
                  <a:srgbClr val="672F3E"/>
                </a:solidFill>
                <a:latin typeface="Arial"/>
                <a:ea typeface="Arial"/>
                <a:cs typeface="Arial"/>
              </a:rPr>
              <a:t>Déploiement et suivi du projet</a:t>
            </a:r>
          </a:p>
        </p:txBody>
      </p:sp>
      <p:sp>
        <p:nvSpPr>
          <p:cNvPr id="2" name="13">
            <a:extLst xmlns:a="http://schemas.openxmlformats.org/drawingml/2006/main">
              <a:ext uri="{FF2B5EF4-FFF2-40B4-BE49-F238E27FC236}">
                <a16:creationId xmlns:a16="http://schemas.microsoft.com/office/drawing/2014/main" id="{313C1A8B-370F-4D4E-80BB-1B0E5C89BF95}"/>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2665B"/>
                </a:solidFill>
                <a:latin typeface="Arial"/>
                <a:ea typeface="Arial"/>
                <a:cs typeface="Arial"/>
              </a:defRPr>
            </a:pPr>
            <a:r>
              <a:rPr sz="1200" b="0">
                <a:solidFill>
                  <a:srgbClr val="62665B"/>
                </a:solidFill>
                <a:latin typeface="Arial"/>
                <a:ea typeface="Arial"/>
                <a:cs typeface="Arial"/>
              </a:rPr>
              <a:t>13</a:t>
            </a:r>
          </a:p>
        </p:txBody>
      </p:sp>
      <p:sp>
        <p:nvSpPr>
          <p:cNvPr id="3" name="Hébergement">
            <a:extLst xmlns:a="http://schemas.openxmlformats.org/drawingml/2006/main">
              <a:ext uri="{FF2B5EF4-FFF2-40B4-BE49-F238E27FC236}">
                <a16:creationId xmlns:a16="http://schemas.microsoft.com/office/drawing/2014/main" id="{57F3CB3D-27E4-4814-89E7-19783E2A00B0}"/>
              </a:ext>
            </a:extLst>
          </p:cNvPr>
          <p:cNvSpPr>
            <a:spLocks xmlns:a="http://schemas.openxmlformats.org/drawingml/2006/main" noGrp="1"/>
          </p:cNvSpPr>
          <p:nvPr/>
        </p:nvSpPr>
        <p:spPr>
          <a:xfrm xmlns:a="http://schemas.openxmlformats.org/drawingml/2006/main">
            <a:off x="609600" y="1619250"/>
            <a:ext cx="704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672F3E"/>
                </a:solidFill>
                <a:latin typeface="Arial"/>
                <a:ea typeface="Arial"/>
                <a:cs typeface="Arial"/>
              </a:defRPr>
            </a:pPr>
            <a:r>
              <a:rPr sz="2250" b="1">
                <a:solidFill>
                  <a:srgbClr val="672F3E"/>
                </a:solidFill>
                <a:latin typeface="Arial"/>
                <a:ea typeface="Arial"/>
                <a:cs typeface="Arial"/>
              </a:rPr>
              <a:t>Hébergement</a:t>
            </a:r>
          </a:p>
        </p:txBody>
      </p:sp>
      <p:sp>
        <p:nvSpPr>
          <p:cNvPr id="4" name="alwaysdata et HTTPS&#10;PHP, MySQL et tâches planifiées">
            <a:extLst xmlns:a="http://schemas.openxmlformats.org/drawingml/2006/main">
              <a:ext uri="{FF2B5EF4-FFF2-40B4-BE49-F238E27FC236}">
                <a16:creationId xmlns:a16="http://schemas.microsoft.com/office/drawing/2014/main" id="{AA820D36-A1D8-42BF-BA97-E661F74CB8CC}"/>
              </a:ext>
            </a:extLst>
          </p:cNvPr>
          <p:cNvSpPr>
            <a:spLocks xmlns:a="http://schemas.openxmlformats.org/drawingml/2006/main" noGrp="1"/>
          </p:cNvSpPr>
          <p:nvPr/>
        </p:nvSpPr>
        <p:spPr>
          <a:xfrm xmlns:a="http://schemas.openxmlformats.org/drawingml/2006/main">
            <a:off x="609600" y="2152650"/>
            <a:ext cx="7048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alwaysdata et HTTPS</a:t>
            </a:r>
          </a:p>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PHP, MySQL et tâches planifiées</a:t>
            </a:r>
          </a:p>
        </p:txBody>
      </p:sp>
      <p:sp>
        <p:nvSpPr>
          <p:cNvPr id="5" name="Livraison du code">
            <a:extLst xmlns:a="http://schemas.openxmlformats.org/drawingml/2006/main">
              <a:ext uri="{FF2B5EF4-FFF2-40B4-BE49-F238E27FC236}">
                <a16:creationId xmlns:a16="http://schemas.microsoft.com/office/drawing/2014/main" id="{D4ADF705-B51A-4E42-BE05-D69708A72CB4}"/>
              </a:ext>
            </a:extLst>
          </p:cNvPr>
          <p:cNvSpPr>
            <a:spLocks xmlns:a="http://schemas.openxmlformats.org/drawingml/2006/main" noGrp="1"/>
          </p:cNvSpPr>
          <p:nvPr/>
        </p:nvSpPr>
        <p:spPr>
          <a:xfrm xmlns:a="http://schemas.openxmlformats.org/drawingml/2006/main">
            <a:off x="609600" y="3886200"/>
            <a:ext cx="704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672F3E"/>
                </a:solidFill>
                <a:latin typeface="Arial"/>
                <a:ea typeface="Arial"/>
                <a:cs typeface="Arial"/>
              </a:defRPr>
            </a:pPr>
            <a:r>
              <a:rPr sz="2250" b="1">
                <a:solidFill>
                  <a:srgbClr val="672F3E"/>
                </a:solidFill>
                <a:latin typeface="Arial"/>
                <a:ea typeface="Arial"/>
                <a:cs typeface="Arial"/>
              </a:rPr>
              <a:t>Livraison du code</a:t>
            </a:r>
          </a:p>
        </p:txBody>
      </p:sp>
      <p:sp>
        <p:nvSpPr>
          <p:cNvPr id="6" name="Branches de travail, develop et main&#10;Recette avant publ">
            <a:extLst xmlns:a="http://schemas.openxmlformats.org/drawingml/2006/main">
              <a:ext uri="{FF2B5EF4-FFF2-40B4-BE49-F238E27FC236}">
                <a16:creationId xmlns:a16="http://schemas.microsoft.com/office/drawing/2014/main" id="{E7686BC4-B003-448B-972E-78C6C5F994CE}"/>
              </a:ext>
            </a:extLst>
          </p:cNvPr>
          <p:cNvSpPr>
            <a:spLocks xmlns:a="http://schemas.openxmlformats.org/drawingml/2006/main" noGrp="1"/>
          </p:cNvSpPr>
          <p:nvPr/>
        </p:nvSpPr>
        <p:spPr>
          <a:xfrm xmlns:a="http://schemas.openxmlformats.org/drawingml/2006/main">
            <a:off x="609600" y="4419600"/>
            <a:ext cx="7048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Branches de travail, develop et main</a:t>
            </a:r>
          </a:p>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Recette avant publication</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1c318a34aa642e8"/>
          <a:stretch xmlns:a="http://schemas.openxmlformats.org/drawingml/2006/main"/>
        </p:blipFill>
        <p:spPr>
          <a:xfrm xmlns:a="http://schemas.openxmlformats.org/drawingml/2006/main">
            <a:off x="8715375" y="1524000"/>
            <a:ext cx="1809750" cy="4524375"/>
          </a:xfrm>
          <a:prstGeom xmlns:a="http://schemas.openxmlformats.org/drawingml/2006/main" prst="rect">
            <a:avLst/>
          </a:prstGeom>
        </p:spPr>
      </p:pic>
    </p:spTree>
    <p:extLst>
      <p:ext uri="{BB962C8B-B14F-4D97-AF65-F5344CB8AC3E}">
        <p14:creationId xmlns:p14="http://schemas.microsoft.com/office/powerpoint/2010/main" val="1060270203"/>
      </p:ext>
    </p:extLst>
  </p:cSld>
</p:sld>
</file>

<file path=ppt/slides/slide14.xml><?xml version="1.0" encoding="utf-8"?>
<p:sld xmlns:p="http://schemas.openxmlformats.org/presentationml/2006/main">
  <p:cSld>
    <p:bg>
      <p:bgPr>
        <a:solidFill xmlns:a="http://schemas.openxmlformats.org/drawingml/2006/main">
          <a:srgbClr val="672F3E"/>
        </a:solidFill>
      </p:bgPr>
    </p:bg>
    <p:spTree>
      <p:nvGrpSpPr>
        <p:cNvPr id="1" name=""/>
        <p:cNvGrpSpPr/>
        <p:nvPr/>
      </p:nvGrpSpPr>
      <p:grpSpPr>
        <a:xfrm xmlns:a="http://schemas.openxmlformats.org/drawingml/2006/main"/>
      </p:grpSpPr>
      <p:sp>
        <p:nvSpPr>
          <p:cNvPr id="5" name="Démonstration de l’application">
            <a:extLst xmlns:a="http://schemas.openxmlformats.org/drawingml/2006/main">
              <a:ext uri="{FF2B5EF4-FFF2-40B4-BE49-F238E27FC236}">
                <a16:creationId xmlns:a16="http://schemas.microsoft.com/office/drawing/2014/main" id="{16C5918A-2219-4FA4-ACD3-84168788F7E9}"/>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FFDF8"/>
                </a:solidFill>
                <a:latin typeface="Arial"/>
                <a:ea typeface="Arial"/>
                <a:cs typeface="Arial"/>
              </a:defRPr>
            </a:pPr>
            <a:r>
              <a:rPr sz="3375" b="1">
                <a:solidFill>
                  <a:srgbClr val="FFFDF8"/>
                </a:solidFill>
                <a:latin typeface="Arial"/>
                <a:ea typeface="Arial"/>
                <a:cs typeface="Arial"/>
              </a:rPr>
              <a:t>Démonstration de l’application</a:t>
            </a:r>
          </a:p>
        </p:txBody>
      </p:sp>
      <p:sp>
        <p:nvSpPr>
          <p:cNvPr id="2" name="14">
            <a:extLst xmlns:a="http://schemas.openxmlformats.org/drawingml/2006/main">
              <a:ext uri="{FF2B5EF4-FFF2-40B4-BE49-F238E27FC236}">
                <a16:creationId xmlns:a16="http://schemas.microsoft.com/office/drawing/2014/main" id="{A30CF848-A618-48EA-98B9-B815761D1D0E}"/>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DF8"/>
                </a:solidFill>
                <a:latin typeface="Arial"/>
                <a:ea typeface="Arial"/>
                <a:cs typeface="Arial"/>
              </a:defRPr>
            </a:pPr>
            <a:r>
              <a:rPr sz="1200" b="0">
                <a:solidFill>
                  <a:srgbClr val="FFFDF8"/>
                </a:solidFill>
                <a:latin typeface="Arial"/>
                <a:ea typeface="Arial"/>
                <a:cs typeface="Arial"/>
              </a:rPr>
              <a:t>14</a:t>
            </a:r>
          </a:p>
        </p:txBody>
      </p:sp>
      <p:sp>
        <p:nvSpPr>
          <p:cNvPr id="3" name="Catalogue et fiche d’un menu&#10;&#10;Commande et récapitulatif">
            <a:extLst xmlns:a="http://schemas.openxmlformats.org/drawingml/2006/main">
              <a:ext uri="{FF2B5EF4-FFF2-40B4-BE49-F238E27FC236}">
                <a16:creationId xmlns:a16="http://schemas.microsoft.com/office/drawing/2014/main" id="{28CA01C2-6F30-4245-B286-A767EDF25744}"/>
              </a:ext>
            </a:extLst>
          </p:cNvPr>
          <p:cNvSpPr>
            <a:spLocks xmlns:a="http://schemas.openxmlformats.org/drawingml/2006/main" noGrp="1"/>
          </p:cNvSpPr>
          <p:nvPr/>
        </p:nvSpPr>
        <p:spPr>
          <a:xfrm xmlns:a="http://schemas.openxmlformats.org/drawingml/2006/main">
            <a:off x="609600" y="1971675"/>
            <a:ext cx="107632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FFFDF8"/>
                </a:solidFill>
                <a:latin typeface="Arial"/>
                <a:ea typeface="Arial"/>
                <a:cs typeface="Arial"/>
              </a:defRPr>
            </a:pPr>
            <a:r>
              <a:rPr sz="2625" b="0">
                <a:solidFill>
                  <a:srgbClr val="FFFDF8"/>
                </a:solidFill>
                <a:latin typeface="Arial"/>
                <a:ea typeface="Arial"/>
                <a:cs typeface="Arial"/>
              </a:rPr>
              <a:t>Catalogue et fiche d’un menu</a:t>
            </a:r>
          </a:p>
          <a:p xmlns:a="http://schemas.openxmlformats.org/drawingml/2006/main">
            <a:r>
              <a:t/>
            </a:r>
          </a:p>
          <a:p xmlns:a="http://schemas.openxmlformats.org/drawingml/2006/main">
            <a:pPr>
              <a:defRPr sz="2625" b="0">
                <a:solidFill>
                  <a:srgbClr val="FFFDF8"/>
                </a:solidFill>
                <a:latin typeface="Arial"/>
                <a:ea typeface="Arial"/>
                <a:cs typeface="Arial"/>
              </a:defRPr>
            </a:pPr>
            <a:r>
              <a:rPr sz="2625" b="0">
                <a:solidFill>
                  <a:srgbClr val="FFFDF8"/>
                </a:solidFill>
                <a:latin typeface="Arial"/>
                <a:ea typeface="Arial"/>
                <a:cs typeface="Arial"/>
              </a:rPr>
              <a:t>Commande et récapitulatif client</a:t>
            </a:r>
          </a:p>
          <a:p xmlns:a="http://schemas.openxmlformats.org/drawingml/2006/main">
            <a:r>
              <a:t/>
            </a:r>
          </a:p>
          <a:p xmlns:a="http://schemas.openxmlformats.org/drawingml/2006/main">
            <a:pPr>
              <a:defRPr sz="2625" b="0">
                <a:solidFill>
                  <a:srgbClr val="FFFDF8"/>
                </a:solidFill>
                <a:latin typeface="Arial"/>
                <a:ea typeface="Arial"/>
                <a:cs typeface="Arial"/>
              </a:defRPr>
            </a:pPr>
            <a:r>
              <a:rPr sz="2625" b="0">
                <a:solidFill>
                  <a:srgbClr val="FFFDF8"/>
                </a:solidFill>
                <a:latin typeface="Arial"/>
                <a:ea typeface="Arial"/>
                <a:cs typeface="Arial"/>
              </a:rPr>
              <a:t>Suivi employé et statistiques administrateur</a:t>
            </a:r>
          </a:p>
        </p:txBody>
      </p:sp>
      <p:sp>
        <p:nvSpPr>
          <p:cNvPr id="4" name="vite-gourmandecf2026.alwaysdata.net">
            <a:extLst xmlns:a="http://schemas.openxmlformats.org/drawingml/2006/main">
              <a:ext uri="{FF2B5EF4-FFF2-40B4-BE49-F238E27FC236}">
                <a16:creationId xmlns:a16="http://schemas.microsoft.com/office/drawing/2014/main" id="{76D78528-41CD-484B-8D8E-18A48D251662}"/>
              </a:ext>
            </a:extLst>
          </p:cNvPr>
          <p:cNvSpPr>
            <a:spLocks xmlns:a="http://schemas.openxmlformats.org/drawingml/2006/main" noGrp="1"/>
          </p:cNvSpPr>
          <p:nvPr/>
        </p:nvSpPr>
        <p:spPr>
          <a:xfrm xmlns:a="http://schemas.openxmlformats.org/drawingml/2006/main">
            <a:off x="609600" y="57626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DF8"/>
                </a:solidFill>
                <a:latin typeface="Arial"/>
                <a:ea typeface="Arial"/>
                <a:cs typeface="Arial"/>
              </a:defRPr>
            </a:pPr>
            <a:r>
              <a:rPr sz="2100" b="0">
                <a:solidFill>
                  <a:srgbClr val="FFFDF8"/>
                </a:solidFill>
                <a:latin typeface="Arial"/>
                <a:ea typeface="Arial"/>
                <a:cs typeface="Arial"/>
              </a:rPr>
              <a:t>vite-gourmandecf2026.alwaysdata.net</a:t>
            </a:r>
          </a:p>
        </p:txBody>
      </p:sp>
    </p:spTree>
    <p:extLst>
      <p:ext uri="{BB962C8B-B14F-4D97-AF65-F5344CB8AC3E}">
        <p14:creationId xmlns:p14="http://schemas.microsoft.com/office/powerpoint/2010/main" val="262924390"/>
      </p:ext>
    </p:extLst>
  </p:cSld>
</p:sld>
</file>

<file path=ppt/slides/slide15.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7" name="Bilan et pistes d’amélioration">
            <a:extLst xmlns:a="http://schemas.openxmlformats.org/drawingml/2006/main">
              <a:ext uri="{FF2B5EF4-FFF2-40B4-BE49-F238E27FC236}">
                <a16:creationId xmlns:a16="http://schemas.microsoft.com/office/drawing/2014/main" id="{C8A21892-CBF7-41CF-8581-BA616A925856}"/>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672F3E"/>
                </a:solidFill>
                <a:latin typeface="Arial"/>
                <a:ea typeface="Arial"/>
                <a:cs typeface="Arial"/>
              </a:defRPr>
            </a:pPr>
            <a:r>
              <a:rPr sz="3375" b="1">
                <a:solidFill>
                  <a:srgbClr val="672F3E"/>
                </a:solidFill>
                <a:latin typeface="Arial"/>
                <a:ea typeface="Arial"/>
                <a:cs typeface="Arial"/>
              </a:rPr>
              <a:t>Bilan et pistes d’amélioration</a:t>
            </a:r>
          </a:p>
        </p:txBody>
      </p:sp>
      <p:sp>
        <p:nvSpPr>
          <p:cNvPr id="2" name="15">
            <a:extLst xmlns:a="http://schemas.openxmlformats.org/drawingml/2006/main">
              <a:ext uri="{FF2B5EF4-FFF2-40B4-BE49-F238E27FC236}">
                <a16:creationId xmlns:a16="http://schemas.microsoft.com/office/drawing/2014/main" id="{4BFA5A47-4BC0-4AE0-8FED-26B16EAA8462}"/>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2665B"/>
                </a:solidFill>
                <a:latin typeface="Arial"/>
                <a:ea typeface="Arial"/>
                <a:cs typeface="Arial"/>
              </a:defRPr>
            </a:pPr>
            <a:r>
              <a:rPr sz="1200" b="0">
                <a:solidFill>
                  <a:srgbClr val="62665B"/>
                </a:solidFill>
                <a:latin typeface="Arial"/>
                <a:ea typeface="Arial"/>
                <a:cs typeface="Arial"/>
              </a:rPr>
              <a:t>15</a:t>
            </a:r>
          </a:p>
        </p:txBody>
      </p:sp>
      <p:sp>
        <p:nvSpPr>
          <p:cNvPr id="3" name="Fonctionnalités livrées">
            <a:extLst xmlns:a="http://schemas.openxmlformats.org/drawingml/2006/main">
              <a:ext uri="{FF2B5EF4-FFF2-40B4-BE49-F238E27FC236}">
                <a16:creationId xmlns:a16="http://schemas.microsoft.com/office/drawing/2014/main" id="{9A7C3C6E-6CD8-48C8-A0CE-5AFD52DAAF4A}"/>
              </a:ext>
            </a:extLst>
          </p:cNvPr>
          <p:cNvSpPr>
            <a:spLocks xmlns:a="http://schemas.openxmlformats.org/drawingml/2006/main" noGrp="1"/>
          </p:cNvSpPr>
          <p:nvPr/>
        </p:nvSpPr>
        <p:spPr>
          <a:xfrm xmlns:a="http://schemas.openxmlformats.org/drawingml/2006/main">
            <a:off x="609600" y="1619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672F3E"/>
                </a:solidFill>
                <a:latin typeface="Arial"/>
                <a:ea typeface="Arial"/>
                <a:cs typeface="Arial"/>
              </a:defRPr>
            </a:pPr>
            <a:r>
              <a:rPr sz="2250" b="1">
                <a:solidFill>
                  <a:srgbClr val="672F3E"/>
                </a:solidFill>
                <a:latin typeface="Arial"/>
                <a:ea typeface="Arial"/>
                <a:cs typeface="Arial"/>
              </a:rPr>
              <a:t>Fonctionnalités livrées</a:t>
            </a:r>
          </a:p>
        </p:txBody>
      </p:sp>
      <p:sp>
        <p:nvSpPr>
          <p:cNvPr id="4" name="Commande et suivi&#10;Administration et statistiques distan">
            <a:extLst xmlns:a="http://schemas.openxmlformats.org/drawingml/2006/main">
              <a:ext uri="{FF2B5EF4-FFF2-40B4-BE49-F238E27FC236}">
                <a16:creationId xmlns:a16="http://schemas.microsoft.com/office/drawing/2014/main" id="{BA505DBA-5090-4AB7-B04F-98496D7879EF}"/>
              </a:ext>
            </a:extLst>
          </p:cNvPr>
          <p:cNvSpPr>
            <a:spLocks xmlns:a="http://schemas.openxmlformats.org/drawingml/2006/main" noGrp="1"/>
          </p:cNvSpPr>
          <p:nvPr/>
        </p:nvSpPr>
        <p:spPr>
          <a:xfrm xmlns:a="http://schemas.openxmlformats.org/drawingml/2006/main">
            <a:off x="609600" y="2152650"/>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Commande et suivi</a:t>
            </a:r>
          </a:p>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Administration et statistiques distantes</a:t>
            </a:r>
          </a:p>
        </p:txBody>
      </p:sp>
      <p:sp>
        <p:nvSpPr>
          <p:cNvPr id="5" name="Améliorations identifiées">
            <a:extLst xmlns:a="http://schemas.openxmlformats.org/drawingml/2006/main">
              <a:ext uri="{FF2B5EF4-FFF2-40B4-BE49-F238E27FC236}">
                <a16:creationId xmlns:a16="http://schemas.microsoft.com/office/drawing/2014/main" id="{6E3F99A8-135F-4C38-BB10-D49F3AC7F59A}"/>
              </a:ext>
            </a:extLst>
          </p:cNvPr>
          <p:cNvSpPr>
            <a:spLocks xmlns:a="http://schemas.openxmlformats.org/drawingml/2006/main" noGrp="1"/>
          </p:cNvSpPr>
          <p:nvPr/>
        </p:nvSpPr>
        <p:spPr>
          <a:xfrm xmlns:a="http://schemas.openxmlformats.org/drawingml/2006/main">
            <a:off x="609600" y="39719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672F3E"/>
                </a:solidFill>
                <a:latin typeface="Arial"/>
                <a:ea typeface="Arial"/>
                <a:cs typeface="Arial"/>
              </a:defRPr>
            </a:pPr>
            <a:r>
              <a:rPr sz="2250" b="1">
                <a:solidFill>
                  <a:srgbClr val="672F3E"/>
                </a:solidFill>
                <a:latin typeface="Arial"/>
                <a:ea typeface="Arial"/>
                <a:cs typeface="Arial"/>
              </a:rPr>
              <a:t>Améliorations identifiées</a:t>
            </a:r>
          </a:p>
        </p:txBody>
      </p:sp>
      <p:sp>
        <p:nvSpPr>
          <p:cNvPr id="6" name="Évaluation d’accessibilité complète&#10;CSS mobile first et">
            <a:extLst xmlns:a="http://schemas.openxmlformats.org/drawingml/2006/main">
              <a:ext uri="{FF2B5EF4-FFF2-40B4-BE49-F238E27FC236}">
                <a16:creationId xmlns:a16="http://schemas.microsoft.com/office/drawing/2014/main" id="{E3C13A93-68F4-4B08-A6AF-2ADB1ADE9ABE}"/>
              </a:ext>
            </a:extLst>
          </p:cNvPr>
          <p:cNvSpPr>
            <a:spLocks xmlns:a="http://schemas.openxmlformats.org/drawingml/2006/main" noGrp="1"/>
          </p:cNvSpPr>
          <p:nvPr/>
        </p:nvSpPr>
        <p:spPr>
          <a:xfrm xmlns:a="http://schemas.openxmlformats.org/drawingml/2006/main">
            <a:off x="609600" y="4505325"/>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Évaluation d’accessibilité complète</a:t>
            </a:r>
          </a:p>
          <a:p xmlns:a="http://schemas.openxmlformats.org/drawingml/2006/main">
            <a:pPr>
              <a:defRPr sz="2025" b="0">
                <a:solidFill>
                  <a:srgbClr val="292C25"/>
                </a:solidFill>
                <a:latin typeface="Arial"/>
                <a:ea typeface="Arial"/>
                <a:cs typeface="Arial"/>
              </a:defRPr>
            </a:pPr>
            <a:r>
              <a:rPr sz="2025" b="0">
                <a:solidFill>
                  <a:srgbClr val="292C25"/>
                </a:solidFill>
                <a:latin typeface="Arial"/>
                <a:ea typeface="Arial"/>
                <a:cs typeface="Arial"/>
              </a:rPr>
              <a:t>CSS mobile first et file d’envoi des emails</a:t>
            </a:r>
          </a:p>
        </p:txBody>
      </p:sp>
    </p:spTree>
    <p:extLst>
      <p:ext uri="{BB962C8B-B14F-4D97-AF65-F5344CB8AC3E}">
        <p14:creationId xmlns:p14="http://schemas.microsoft.com/office/powerpoint/2010/main" val="1073865952"/>
      </p:ext>
    </p:extLst>
  </p:cSld>
</p:sld>
</file>

<file path=ppt/slides/slide16.xml><?xml version="1.0" encoding="utf-8"?>
<p:sld xmlns:p="http://schemas.openxmlformats.org/presentationml/2006/main">
  <p:cSld>
    <p:bg>
      <p:bgPr>
        <a:solidFill xmlns:a="http://schemas.openxmlformats.org/drawingml/2006/main">
          <a:srgbClr val="672F3E"/>
        </a:solidFill>
      </p:bgPr>
    </p:bg>
    <p:spTree>
      <p:nvGrpSpPr>
        <p:cNvPr id="1" name=""/>
        <p:cNvGrpSpPr/>
        <p:nvPr/>
      </p:nvGrpSpPr>
      <p:grpSpPr>
        <a:xfrm xmlns:a="http://schemas.openxmlformats.org/drawingml/2006/main"/>
      </p:grpSpPr>
      <p:sp>
        <p:nvSpPr>
          <p:cNvPr id="6" name="Questions et ressources">
            <a:extLst xmlns:a="http://schemas.openxmlformats.org/drawingml/2006/main">
              <a:ext uri="{FF2B5EF4-FFF2-40B4-BE49-F238E27FC236}">
                <a16:creationId xmlns:a16="http://schemas.microsoft.com/office/drawing/2014/main" id="{5613B35B-8CFE-4279-8A4E-B95718B123F4}"/>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FFDF8"/>
                </a:solidFill>
                <a:latin typeface="Arial"/>
                <a:ea typeface="Arial"/>
                <a:cs typeface="Arial"/>
              </a:defRPr>
            </a:pPr>
            <a:r>
              <a:rPr sz="3375" b="1">
                <a:solidFill>
                  <a:srgbClr val="FFFDF8"/>
                </a:solidFill>
                <a:latin typeface="Arial"/>
                <a:ea typeface="Arial"/>
                <a:cs typeface="Arial"/>
              </a:rPr>
              <a:t>Questions et ressources</a:t>
            </a:r>
          </a:p>
        </p:txBody>
      </p:sp>
      <p:sp>
        <p:nvSpPr>
          <p:cNvPr id="2" name="16">
            <a:extLst xmlns:a="http://schemas.openxmlformats.org/drawingml/2006/main">
              <a:ext uri="{FF2B5EF4-FFF2-40B4-BE49-F238E27FC236}">
                <a16:creationId xmlns:a16="http://schemas.microsoft.com/office/drawing/2014/main" id="{99A91787-5D99-4047-933A-96E2ED46BD33}"/>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DF8"/>
                </a:solidFill>
                <a:latin typeface="Arial"/>
                <a:ea typeface="Arial"/>
                <a:cs typeface="Arial"/>
              </a:defRPr>
            </a:pPr>
            <a:r>
              <a:rPr sz="1200" b="0">
                <a:solidFill>
                  <a:srgbClr val="FFFDF8"/>
                </a:solidFill>
                <a:latin typeface="Arial"/>
                <a:ea typeface="Arial"/>
                <a:cs typeface="Arial"/>
              </a:rPr>
              <a:t>16</a:t>
            </a:r>
          </a:p>
        </p:txBody>
      </p:sp>
      <p:sp>
        <p:nvSpPr>
          <p:cNvPr id="3" name="Le code et ses preuves">
            <a:extLst xmlns:a="http://schemas.openxmlformats.org/drawingml/2006/main">
              <a:ext uri="{FF2B5EF4-FFF2-40B4-BE49-F238E27FC236}">
                <a16:creationId xmlns:a16="http://schemas.microsoft.com/office/drawing/2014/main" id="{F5CC4005-A662-4CBA-80DC-15A16FE7BADE}"/>
              </a:ext>
            </a:extLst>
          </p:cNvPr>
          <p:cNvSpPr>
            <a:spLocks xmlns:a="http://schemas.openxmlformats.org/drawingml/2006/main" noGrp="1"/>
          </p:cNvSpPr>
          <p:nvPr/>
        </p:nvSpPr>
        <p:spPr>
          <a:xfrm xmlns:a="http://schemas.openxmlformats.org/drawingml/2006/main">
            <a:off x="609600" y="21907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DF8"/>
                </a:solidFill>
                <a:latin typeface="Arial"/>
                <a:ea typeface="Arial"/>
                <a:cs typeface="Arial"/>
              </a:defRPr>
            </a:pPr>
            <a:r>
              <a:rPr sz="3225" b="1">
                <a:solidFill>
                  <a:srgbClr val="FFFDF8"/>
                </a:solidFill>
                <a:latin typeface="Arial"/>
                <a:ea typeface="Arial"/>
                <a:cs typeface="Arial"/>
              </a:rPr>
              <a:t>Le code et ses preuves</a:t>
            </a:r>
          </a:p>
        </p:txBody>
      </p:sp>
      <p:sp>
        <p:nvSpPr>
          <p:cNvPr id="4" name="github.com/Z-RR-oss/Vite-Gourmand-ECF2026">
            <a:extLst xmlns:a="http://schemas.openxmlformats.org/drawingml/2006/main">
              <a:ext uri="{FF2B5EF4-FFF2-40B4-BE49-F238E27FC236}">
                <a16:creationId xmlns:a16="http://schemas.microsoft.com/office/drawing/2014/main" id="{91B74CC7-AF0D-48BE-8BCF-D8B3301BBB36}"/>
              </a:ext>
            </a:extLst>
          </p:cNvPr>
          <p:cNvSpPr>
            <a:spLocks xmlns:a="http://schemas.openxmlformats.org/drawingml/2006/main" noGrp="1"/>
          </p:cNvSpPr>
          <p:nvPr/>
        </p:nvSpPr>
        <p:spPr>
          <a:xfrm xmlns:a="http://schemas.openxmlformats.org/drawingml/2006/main">
            <a:off x="609600" y="31432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DF8"/>
                </a:solidFill>
                <a:latin typeface="Arial"/>
                <a:ea typeface="Arial"/>
                <a:cs typeface="Arial"/>
              </a:defRPr>
            </a:pPr>
            <a:r>
              <a:rPr sz="2100" b="0">
                <a:solidFill>
                  <a:srgbClr val="FFFDF8"/>
                </a:solidFill>
                <a:latin typeface="Arial"/>
                <a:ea typeface="Arial"/>
                <a:cs typeface="Arial"/>
              </a:rPr>
              <a:t>github.com/Z-RR-oss/Vite-Gourmand-ECF2026</a:t>
            </a:r>
          </a:p>
        </p:txBody>
      </p:sp>
      <p:sp>
        <p:nvSpPr>
          <p:cNvPr id="5" name="MCD complet dans les diapositives suivantes&#10;Documents e">
            <a:extLst xmlns:a="http://schemas.openxmlformats.org/drawingml/2006/main">
              <a:ext uri="{FF2B5EF4-FFF2-40B4-BE49-F238E27FC236}">
                <a16:creationId xmlns:a16="http://schemas.microsoft.com/office/drawing/2014/main" id="{CE326F81-2671-42D3-8A21-CFB564D0080A}"/>
              </a:ext>
            </a:extLst>
          </p:cNvPr>
          <p:cNvSpPr>
            <a:spLocks xmlns:a="http://schemas.openxmlformats.org/drawingml/2006/main" noGrp="1"/>
          </p:cNvSpPr>
          <p:nvPr/>
        </p:nvSpPr>
        <p:spPr>
          <a:xfrm xmlns:a="http://schemas.openxmlformats.org/drawingml/2006/main">
            <a:off x="609600" y="44767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DF8"/>
                </a:solidFill>
                <a:latin typeface="Arial"/>
                <a:ea typeface="Arial"/>
                <a:cs typeface="Arial"/>
              </a:defRPr>
            </a:pPr>
            <a:r>
              <a:rPr sz="2100" b="0">
                <a:solidFill>
                  <a:srgbClr val="FFFDF8"/>
                </a:solidFill>
                <a:latin typeface="Arial"/>
                <a:ea typeface="Arial"/>
                <a:cs typeface="Arial"/>
              </a:rPr>
              <a:t>MCD complet dans les diapositives suivantes</a:t>
            </a:r>
          </a:p>
          <a:p xmlns:a="http://schemas.openxmlformats.org/drawingml/2006/main">
            <a:pPr>
              <a:defRPr sz="2100" b="0">
                <a:solidFill>
                  <a:srgbClr val="FFFDF8"/>
                </a:solidFill>
                <a:latin typeface="Arial"/>
                <a:ea typeface="Arial"/>
                <a:cs typeface="Arial"/>
              </a:defRPr>
            </a:pPr>
            <a:r>
              <a:rPr sz="2100" b="0">
                <a:solidFill>
                  <a:srgbClr val="FFFDF8"/>
                </a:solidFill>
                <a:latin typeface="Arial"/>
                <a:ea typeface="Arial"/>
                <a:cs typeface="Arial"/>
              </a:rPr>
              <a:t>Documents et script oral dans Livrables-jury</a:t>
            </a:r>
          </a:p>
        </p:txBody>
      </p:sp>
    </p:spTree>
    <p:extLst>
      <p:ext uri="{BB962C8B-B14F-4D97-AF65-F5344CB8AC3E}">
        <p14:creationId xmlns:p14="http://schemas.microsoft.com/office/powerpoint/2010/main" val="606793371"/>
      </p:ext>
    </p:extLst>
  </p:cSld>
</p:sld>
</file>

<file path=ppt/slides/slide17.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4" name="Annexe MCD : catalogue">
            <a:extLst xmlns:a="http://schemas.openxmlformats.org/drawingml/2006/main">
              <a:ext uri="{FF2B5EF4-FFF2-40B4-BE49-F238E27FC236}">
                <a16:creationId xmlns:a16="http://schemas.microsoft.com/office/drawing/2014/main" id="{9590AEFC-A91A-4935-B7EB-645B43FB3D22}"/>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672F3E"/>
                </a:solidFill>
                <a:latin typeface="Arial"/>
                <a:ea typeface="Arial"/>
                <a:cs typeface="Arial"/>
              </a:defRPr>
            </a:pPr>
            <a:r>
              <a:rPr sz="3375" b="1">
                <a:solidFill>
                  <a:srgbClr val="672F3E"/>
                </a:solidFill>
                <a:latin typeface="Arial"/>
                <a:ea typeface="Arial"/>
                <a:cs typeface="Arial"/>
              </a:rPr>
              <a:t>Annexe MCD : catalogue</a:t>
            </a:r>
          </a:p>
        </p:txBody>
      </p:sp>
      <p:sp>
        <p:nvSpPr>
          <p:cNvPr id="2" name="17">
            <a:extLst xmlns:a="http://schemas.openxmlformats.org/drawingml/2006/main">
              <a:ext uri="{FF2B5EF4-FFF2-40B4-BE49-F238E27FC236}">
                <a16:creationId xmlns:a16="http://schemas.microsoft.com/office/drawing/2014/main" id="{ED5A0C2D-8771-42E1-8DDE-93D72F038B75}"/>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2665B"/>
                </a:solidFill>
                <a:latin typeface="Arial"/>
                <a:ea typeface="Arial"/>
                <a:cs typeface="Arial"/>
              </a:defRPr>
            </a:pPr>
            <a:r>
              <a:rPr sz="1200" b="0">
                <a:solidFill>
                  <a:srgbClr val="62665B"/>
                </a:solidFill>
                <a:latin typeface="Arial"/>
                <a:ea typeface="Arial"/>
                <a:cs typeface="Arial"/>
              </a:rPr>
              <a:t>17</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ecc54e4ec704625"/>
          <a:stretch xmlns:a="http://schemas.openxmlformats.org/drawingml/2006/main"/>
        </p:blipFill>
        <p:spPr>
          <a:xfrm xmlns:a="http://schemas.openxmlformats.org/drawingml/2006/main">
            <a:off x="2661613" y="1304925"/>
            <a:ext cx="6868775" cy="4857750"/>
          </a:xfrm>
          <a:prstGeom xmlns:a="http://schemas.openxmlformats.org/drawingml/2006/main" prst="rect">
            <a:avLst/>
          </a:prstGeom>
        </p:spPr>
      </p:pic>
    </p:spTree>
    <p:extLst>
      <p:ext uri="{BB962C8B-B14F-4D97-AF65-F5344CB8AC3E}">
        <p14:creationId xmlns:p14="http://schemas.microsoft.com/office/powerpoint/2010/main" val="1166144029"/>
      </p:ext>
    </p:extLst>
  </p:cSld>
</p:sld>
</file>

<file path=ppt/slides/slide18.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4" name="Annexe MCD : commandes">
            <a:extLst xmlns:a="http://schemas.openxmlformats.org/drawingml/2006/main">
              <a:ext uri="{FF2B5EF4-FFF2-40B4-BE49-F238E27FC236}">
                <a16:creationId xmlns:a16="http://schemas.microsoft.com/office/drawing/2014/main" id="{FF8F9D9B-65B7-4A60-9F0F-0CEBBD5923C3}"/>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672F3E"/>
                </a:solidFill>
                <a:latin typeface="Arial"/>
                <a:ea typeface="Arial"/>
                <a:cs typeface="Arial"/>
              </a:defRPr>
            </a:pPr>
            <a:r>
              <a:rPr sz="3375" b="1">
                <a:solidFill>
                  <a:srgbClr val="672F3E"/>
                </a:solidFill>
                <a:latin typeface="Arial"/>
                <a:ea typeface="Arial"/>
                <a:cs typeface="Arial"/>
              </a:rPr>
              <a:t>Annexe MCD : commandes</a:t>
            </a:r>
          </a:p>
        </p:txBody>
      </p:sp>
      <p:sp>
        <p:nvSpPr>
          <p:cNvPr id="2" name="18">
            <a:extLst xmlns:a="http://schemas.openxmlformats.org/drawingml/2006/main">
              <a:ext uri="{FF2B5EF4-FFF2-40B4-BE49-F238E27FC236}">
                <a16:creationId xmlns:a16="http://schemas.microsoft.com/office/drawing/2014/main" id="{AD6AACC5-86BC-48F2-A70E-B2871FD91F68}"/>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2665B"/>
                </a:solidFill>
                <a:latin typeface="Arial"/>
                <a:ea typeface="Arial"/>
                <a:cs typeface="Arial"/>
              </a:defRPr>
            </a:pPr>
            <a:r>
              <a:rPr sz="1200" b="0">
                <a:solidFill>
                  <a:srgbClr val="62665B"/>
                </a:solidFill>
                <a:latin typeface="Arial"/>
                <a:ea typeface="Arial"/>
                <a:cs typeface="Arial"/>
              </a:rPr>
              <a:t>18</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e214b9fef4a465b"/>
          <a:stretch xmlns:a="http://schemas.openxmlformats.org/drawingml/2006/main"/>
        </p:blipFill>
        <p:spPr>
          <a:xfrm xmlns:a="http://schemas.openxmlformats.org/drawingml/2006/main">
            <a:off x="2661613" y="1304925"/>
            <a:ext cx="6868775" cy="4857750"/>
          </a:xfrm>
          <a:prstGeom xmlns:a="http://schemas.openxmlformats.org/drawingml/2006/main" prst="rect">
            <a:avLst/>
          </a:prstGeom>
        </p:spPr>
      </p:pic>
    </p:spTree>
    <p:extLst>
      <p:ext uri="{BB962C8B-B14F-4D97-AF65-F5344CB8AC3E}">
        <p14:creationId xmlns:p14="http://schemas.microsoft.com/office/powerpoint/2010/main" val="385345006"/>
      </p:ext>
    </p:extLst>
  </p:cSld>
</p:sld>
</file>

<file path=ppt/slides/slide19.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4" name="Annexe MCD : accès et horaires">
            <a:extLst xmlns:a="http://schemas.openxmlformats.org/drawingml/2006/main">
              <a:ext uri="{FF2B5EF4-FFF2-40B4-BE49-F238E27FC236}">
                <a16:creationId xmlns:a16="http://schemas.microsoft.com/office/drawing/2014/main" id="{D0DE2DB0-DADE-445A-9E67-BDED9BEE30BA}"/>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672F3E"/>
                </a:solidFill>
                <a:latin typeface="Arial"/>
                <a:ea typeface="Arial"/>
                <a:cs typeface="Arial"/>
              </a:defRPr>
            </a:pPr>
            <a:r>
              <a:rPr sz="3375" b="1">
                <a:solidFill>
                  <a:srgbClr val="672F3E"/>
                </a:solidFill>
                <a:latin typeface="Arial"/>
                <a:ea typeface="Arial"/>
                <a:cs typeface="Arial"/>
              </a:rPr>
              <a:t>Annexe MCD : accès et horaires</a:t>
            </a:r>
          </a:p>
        </p:txBody>
      </p:sp>
      <p:sp>
        <p:nvSpPr>
          <p:cNvPr id="2" name="19">
            <a:extLst xmlns:a="http://schemas.openxmlformats.org/drawingml/2006/main">
              <a:ext uri="{FF2B5EF4-FFF2-40B4-BE49-F238E27FC236}">
                <a16:creationId xmlns:a16="http://schemas.microsoft.com/office/drawing/2014/main" id="{EAD5A59E-CD74-4AC4-BACA-5723ECA4B1B3}"/>
              </a:ext>
            </a:extLst>
          </p:cNvPr>
          <p:cNvSpPr>
            <a:spLocks xmlns:a="http://schemas.openxmlformats.org/drawingml/2006/main" noGrp="1"/>
          </p:cNvSpPr>
          <p:nvPr/>
        </p:nvSpPr>
        <p:spPr>
          <a:xfrm xmlns:a="http://schemas.openxmlformats.org/drawingml/2006/main">
            <a:off x="11049000" y="6381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2665B"/>
                </a:solidFill>
                <a:latin typeface="Arial"/>
                <a:ea typeface="Arial"/>
                <a:cs typeface="Arial"/>
              </a:defRPr>
            </a:pPr>
            <a:r>
              <a:rPr sz="1200" b="0">
                <a:solidFill>
                  <a:srgbClr val="62665B"/>
                </a:solidFill>
                <a:latin typeface="Arial"/>
                <a:ea typeface="Arial"/>
                <a:cs typeface="Arial"/>
              </a:rPr>
              <a:t>19</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ee0ca3151a543a2"/>
          <a:stretch xmlns:a="http://schemas.openxmlformats.org/drawingml/2006/main"/>
        </p:blipFill>
        <p:spPr>
          <a:xfrm xmlns:a="http://schemas.openxmlformats.org/drawingml/2006/main">
            <a:off x="2661613" y="1304925"/>
            <a:ext cx="6868775" cy="4857750"/>
          </a:xfrm>
          <a:prstGeom xmlns:a="http://schemas.openxmlformats.org/drawingml/2006/main" prst="rect">
            <a:avLst/>
          </a:prstGeom>
        </p:spPr>
      </p:pic>
    </p:spTree>
    <p:extLst>
      <p:ext uri="{BB962C8B-B14F-4D97-AF65-F5344CB8AC3E}">
        <p14:creationId xmlns:p14="http://schemas.microsoft.com/office/powerpoint/2010/main" val="12025451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2026-10-02T01:03:22.1370000Z</dcterms:created>
  <dcterms:modified xsi:type="dcterms:W3CDTF">2026-10-02T01:03:22.1370000Z</dcterms:modified>
</coreProperties>
</file>